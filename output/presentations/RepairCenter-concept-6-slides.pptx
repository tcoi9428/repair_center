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5240000" cy="8572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6" d="100"/>
          <a:sy n="126" d="100"/>
        </p:scale>
        <p:origin x="3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C425E918-F18E-45E0-91F0-FBB3BA755DB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810250" cy="8572500"/>
          </a:xfrm>
          <a:prstGeom prst="rect">
            <a:avLst/>
          </a:prstGeom>
          <a:solidFill>
            <a:srgbClr val="1C1E20"/>
          </a:solidFill>
          <a:ln w="0">
            <a:noFill/>
          </a:ln>
        </p:spPr>
      </p:sp>
      <p:pic>
        <p:nvPicPr>
          <p:cNvPr id="26" name="Рисунок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3400" y="439334"/>
            <a:ext cx="4714875" cy="912031"/>
          </a:xfrm>
          <a:prstGeom prst="rect">
            <a:avLst/>
          </a:prstGeom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305FFC2F-480F-4E68-8FA1-138FF9C2B60E}"/>
              </a:ext>
            </a:extLst>
          </p:cNvPr>
          <p:cNvSpPr>
            <a:spLocks noGrp="1"/>
          </p:cNvSpPr>
          <p:nvPr/>
        </p:nvSpPr>
        <p:spPr>
          <a:xfrm>
            <a:off x="533400" y="2209800"/>
            <a:ext cx="4905375" cy="2190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4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45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Система</a:t>
            </a:r>
          </a:p>
          <a:p>
            <a:pPr>
              <a:defRPr sz="4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45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управления</a:t>
            </a:r>
          </a:p>
          <a:p>
            <a:pPr>
              <a:defRPr sz="4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45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ремонтами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E87987C-906C-4842-BEF0-493BC2CDF250}"/>
              </a:ext>
            </a:extLst>
          </p:cNvPr>
          <p:cNvSpPr>
            <a:spLocks noGrp="1"/>
          </p:cNvSpPr>
          <p:nvPr/>
        </p:nvSpPr>
        <p:spPr>
          <a:xfrm>
            <a:off x="533400" y="4943475"/>
            <a:ext cx="4743450" cy="1381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Единое рабочее место</a:t>
            </a:r>
          </a:p>
          <a:p>
            <a:pPr>
              <a:defRPr sz="22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для планирования, выполнения</a:t>
            </a:r>
          </a:p>
          <a:p>
            <a:pPr>
              <a:defRPr sz="22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и контроля ТОиР.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C093094-EDF4-41A5-BD4A-8478068F3F37}"/>
              </a:ext>
            </a:extLst>
          </p:cNvPr>
          <p:cNvSpPr>
            <a:spLocks noGrp="1"/>
          </p:cNvSpPr>
          <p:nvPr/>
        </p:nvSpPr>
        <p:spPr>
          <a:xfrm>
            <a:off x="533400" y="7019925"/>
            <a:ext cx="4762500" cy="809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0">
                <a:solidFill>
                  <a:srgbClr val="B8C1C8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ПДМ 10 / 14 / 17 т</a:t>
            </a:r>
          </a:p>
          <a:p>
            <a:pPr>
              <a:defRPr sz="1875" b="0">
                <a:solidFill>
                  <a:srgbClr val="B8C1C8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Шахтные самосвалы 30 / 45 т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08F2080-644C-4FF5-93FF-9CD15A10C638}"/>
              </a:ext>
            </a:extLst>
          </p:cNvPr>
          <p:cNvSpPr>
            <a:spLocks noGrp="1"/>
          </p:cNvSpPr>
          <p:nvPr/>
        </p:nvSpPr>
        <p:spPr>
          <a:xfrm>
            <a:off x="6429375" y="371475"/>
            <a:ext cx="76200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350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КОНЦЕПЦИЯ  /  01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630951B-F59A-4FB9-8052-A54E13860B19}"/>
              </a:ext>
            </a:extLst>
          </p:cNvPr>
          <p:cNvSpPr>
            <a:spLocks noGrp="1"/>
          </p:cNvSpPr>
          <p:nvPr/>
        </p:nvSpPr>
        <p:spPr>
          <a:xfrm>
            <a:off x="6429375" y="876300"/>
            <a:ext cx="8096250" cy="1104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15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От карточки техники</a:t>
            </a:r>
          </a:p>
          <a:p>
            <a:pPr>
              <a:defRPr sz="315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до подтвержденного результата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668DE0A-91C9-46F9-8798-40BD605CEBD8}"/>
              </a:ext>
            </a:extLst>
          </p:cNvPr>
          <p:cNvSpPr>
            <a:spLocks noGrp="1"/>
          </p:cNvSpPr>
          <p:nvPr/>
        </p:nvSpPr>
        <p:spPr>
          <a:xfrm>
            <a:off x="6429375" y="2171700"/>
            <a:ext cx="7905750" cy="809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025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Регламентное ТО-250, ТО-500 и далее,</a:t>
            </a:r>
          </a:p>
          <a:p>
            <a:pPr>
              <a:defRPr sz="2025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плановые и аварийные ремонты.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BBBE79D-5CCC-4019-A1F5-CD6D23C68467}"/>
              </a:ext>
            </a:extLst>
          </p:cNvPr>
          <p:cNvSpPr>
            <a:spLocks noGrp="1"/>
          </p:cNvSpPr>
          <p:nvPr/>
        </p:nvSpPr>
        <p:spPr>
          <a:xfrm>
            <a:off x="6429375" y="325755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75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B6A6D6C-9614-43D3-8D04-A88F40E5664E}"/>
              </a:ext>
            </a:extLst>
          </p:cNvPr>
          <p:cNvSpPr>
            <a:spLocks noGrp="1"/>
          </p:cNvSpPr>
          <p:nvPr/>
        </p:nvSpPr>
        <p:spPr>
          <a:xfrm>
            <a:off x="7191375" y="3257550"/>
            <a:ext cx="74295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Оборудование и нормативы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52A120DE-F08D-4FD8-80EA-E1C16C2BD3E1}"/>
              </a:ext>
            </a:extLst>
          </p:cNvPr>
          <p:cNvSpPr>
            <a:spLocks noGrp="1"/>
          </p:cNvSpPr>
          <p:nvPr/>
        </p:nvSpPr>
        <p:spPr>
          <a:xfrm>
            <a:off x="7191375" y="3638550"/>
            <a:ext cx="74295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Карточки машин, наработка, регламенты, техкарты.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9881B86-8027-4FE4-8263-67DE978A43EB}"/>
              </a:ext>
            </a:extLst>
          </p:cNvPr>
          <p:cNvSpPr>
            <a:spLocks noGrp="1"/>
          </p:cNvSpPr>
          <p:nvPr/>
        </p:nvSpPr>
        <p:spPr>
          <a:xfrm>
            <a:off x="6429375" y="414337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75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4EE8D183-F24E-4858-A776-74E87B4F8F6A}"/>
              </a:ext>
            </a:extLst>
          </p:cNvPr>
          <p:cNvSpPr>
            <a:spLocks noGrp="1"/>
          </p:cNvSpPr>
          <p:nvPr/>
        </p:nvSpPr>
        <p:spPr>
          <a:xfrm>
            <a:off x="7191375" y="4143375"/>
            <a:ext cx="74295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Заявка и планирование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28268F02-0043-4AB6-B3FD-67C47553057B}"/>
              </a:ext>
            </a:extLst>
          </p:cNvPr>
          <p:cNvSpPr>
            <a:spLocks noGrp="1"/>
          </p:cNvSpPr>
          <p:nvPr/>
        </p:nvSpPr>
        <p:spPr>
          <a:xfrm>
            <a:off x="7191375" y="4524375"/>
            <a:ext cx="74295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Потребность заказчика, сроки и приоритет работ.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062D34EA-2086-4152-B38A-56DE38430D63}"/>
              </a:ext>
            </a:extLst>
          </p:cNvPr>
          <p:cNvSpPr>
            <a:spLocks noGrp="1"/>
          </p:cNvSpPr>
          <p:nvPr/>
        </p:nvSpPr>
        <p:spPr>
          <a:xfrm>
            <a:off x="6429375" y="50292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75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8417D8EC-1AB9-40EC-87F0-7C107AEDD493}"/>
              </a:ext>
            </a:extLst>
          </p:cNvPr>
          <p:cNvSpPr>
            <a:spLocks noGrp="1"/>
          </p:cNvSpPr>
          <p:nvPr/>
        </p:nvSpPr>
        <p:spPr>
          <a:xfrm>
            <a:off x="7191375" y="5029200"/>
            <a:ext cx="74295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Наряд-заказ и выполнение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9F5462AE-6BBB-4389-8B9E-D847FADDF069}"/>
              </a:ext>
            </a:extLst>
          </p:cNvPr>
          <p:cNvSpPr>
            <a:spLocks noGrp="1"/>
          </p:cNvSpPr>
          <p:nvPr/>
        </p:nvSpPr>
        <p:spPr>
          <a:xfrm>
            <a:off x="7191375" y="5410200"/>
            <a:ext cx="74295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Операции, ответственные, бригада и ресурсы.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08067BA-4769-4E63-9945-0883EE1383DD}"/>
              </a:ext>
            </a:extLst>
          </p:cNvPr>
          <p:cNvSpPr>
            <a:spLocks noGrp="1"/>
          </p:cNvSpPr>
          <p:nvPr/>
        </p:nvSpPr>
        <p:spPr>
          <a:xfrm>
            <a:off x="6429375" y="59150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75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636AB81C-DC30-4DAF-89A8-B1DE6FD59BB1}"/>
              </a:ext>
            </a:extLst>
          </p:cNvPr>
          <p:cNvSpPr>
            <a:spLocks noGrp="1"/>
          </p:cNvSpPr>
          <p:nvPr/>
        </p:nvSpPr>
        <p:spPr>
          <a:xfrm>
            <a:off x="7191375" y="5915025"/>
            <a:ext cx="74295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Подтверждение результата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7008AE60-0368-48FE-A7F5-1D8281F22C51}"/>
              </a:ext>
            </a:extLst>
          </p:cNvPr>
          <p:cNvSpPr>
            <a:spLocks noGrp="1"/>
          </p:cNvSpPr>
          <p:nvPr/>
        </p:nvSpPr>
        <p:spPr>
          <a:xfrm>
            <a:off x="7191375" y="6296025"/>
            <a:ext cx="74295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Факт работ, материалы, проверка и история машины.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FA839977-ED21-49BA-BC20-7EABB1DFCBAA}"/>
              </a:ext>
            </a:extLst>
          </p:cNvPr>
          <p:cNvSpPr>
            <a:spLocks noGrp="1"/>
          </p:cNvSpPr>
          <p:nvPr/>
        </p:nvSpPr>
        <p:spPr>
          <a:xfrm>
            <a:off x="6429375" y="680085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75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20DC5303-30FF-46A8-8FA1-73AB11AF7B08}"/>
              </a:ext>
            </a:extLst>
          </p:cNvPr>
          <p:cNvSpPr>
            <a:spLocks noGrp="1"/>
          </p:cNvSpPr>
          <p:nvPr/>
        </p:nvSpPr>
        <p:spPr>
          <a:xfrm>
            <a:off x="7191375" y="6800850"/>
            <a:ext cx="74295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2100" b="1" dirty="0" err="1" smtClean="0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Аналитика</a:t>
            </a:r>
            <a:endParaRPr sz="2100" b="1" dirty="0">
              <a:solidFill>
                <a:srgbClr val="1C1E20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8193EC43-1151-4D2C-A41C-26E5AD38D53A}"/>
              </a:ext>
            </a:extLst>
          </p:cNvPr>
          <p:cNvSpPr>
            <a:spLocks noGrp="1"/>
          </p:cNvSpPr>
          <p:nvPr/>
        </p:nvSpPr>
        <p:spPr>
          <a:xfrm>
            <a:off x="7191375" y="7181850"/>
            <a:ext cx="74295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Техническое состояние, отказы и простои.</a:t>
            </a:r>
          </a:p>
        </p:txBody>
      </p:sp>
    </p:spTree>
    <p:extLst>
      <p:ext uri="{BB962C8B-B14F-4D97-AF65-F5344CB8AC3E}">
        <p14:creationId xmlns:p14="http://schemas.microsoft.com/office/powerpoint/2010/main" val="360506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1BF275E1-BF09-48CD-8DD4-E920229FAE7B}"/>
              </a:ext>
            </a:extLst>
          </p:cNvPr>
          <p:cNvSpPr>
            <a:spLocks noGrp="1"/>
          </p:cNvSpPr>
          <p:nvPr/>
        </p:nvSpPr>
        <p:spPr>
          <a:xfrm>
            <a:off x="533400" y="257175"/>
            <a:ext cx="97155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350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РАБОЧИЕ СЦЕНАРИИ  /  02</a:t>
            </a:r>
          </a:p>
        </p:txBody>
      </p:sp>
      <p:sp>
        <p:nvSpPr>
          <p:cNvPr id="2" name="Slide title">
            <a:extLst>
              <a:ext uri="{FF2B5EF4-FFF2-40B4-BE49-F238E27FC236}">
                <a16:creationId xmlns:a16="http://schemas.microsoft.com/office/drawing/2014/main" id="{4C5A1F52-1A2F-4F6F-A7D5-81F6228A1951}"/>
              </a:ext>
            </a:extLst>
          </p:cNvPr>
          <p:cNvSpPr>
            <a:spLocks noGrp="1"/>
          </p:cNvSpPr>
          <p:nvPr/>
        </p:nvSpPr>
        <p:spPr>
          <a:xfrm>
            <a:off x="533400" y="723900"/>
            <a:ext cx="13811250" cy="6572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45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Единая база техники и нормативов</a:t>
            </a:r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906250" y="210167"/>
            <a:ext cx="2800350" cy="541691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95D8ED0-FC18-4570-8E7F-5799A4A53746}"/>
              </a:ext>
            </a:extLst>
          </p:cNvPr>
          <p:cNvSpPr>
            <a:spLocks noGrp="1"/>
          </p:cNvSpPr>
          <p:nvPr/>
        </p:nvSpPr>
        <p:spPr>
          <a:xfrm>
            <a:off x="523875" y="1466850"/>
            <a:ext cx="9734550" cy="64960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8"/>
            </a:solidFill>
          </a:ln>
        </p:spPr>
      </p:sp>
      <p:pic>
        <p:nvPicPr>
          <p:cNvPr id="21" name="Рисунок 2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33400" y="1476375"/>
            <a:ext cx="9715500" cy="6477000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F32B5A8-6CBB-40A9-8283-570EC45DD7D8}"/>
              </a:ext>
            </a:extLst>
          </p:cNvPr>
          <p:cNvSpPr>
            <a:spLocks noGrp="1"/>
          </p:cNvSpPr>
          <p:nvPr/>
        </p:nvSpPr>
        <p:spPr>
          <a:xfrm>
            <a:off x="11049000" y="1752600"/>
            <a:ext cx="5905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571D39A-78BE-4B7B-9C6A-5E52FF3ADEBE}"/>
              </a:ext>
            </a:extLst>
          </p:cNvPr>
          <p:cNvSpPr>
            <a:spLocks noGrp="1"/>
          </p:cNvSpPr>
          <p:nvPr/>
        </p:nvSpPr>
        <p:spPr>
          <a:xfrm>
            <a:off x="11049000" y="2152650"/>
            <a:ext cx="3667125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Карточка оборудования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AC67A33-C047-415C-9044-FFDC4F43D03D}"/>
              </a:ext>
            </a:extLst>
          </p:cNvPr>
          <p:cNvSpPr>
            <a:spLocks noGrp="1"/>
          </p:cNvSpPr>
          <p:nvPr/>
        </p:nvSpPr>
        <p:spPr>
          <a:xfrm>
            <a:off x="11049000" y="2857500"/>
            <a:ext cx="3667125" cy="1123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Тип машины, серийный номер, заказчик, участок и текущая наработка.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CF9670F-3EAE-4AD8-86EA-F4838FA9BE7D}"/>
              </a:ext>
            </a:extLst>
          </p:cNvPr>
          <p:cNvSpPr>
            <a:spLocks noGrp="1"/>
          </p:cNvSpPr>
          <p:nvPr/>
        </p:nvSpPr>
        <p:spPr>
          <a:xfrm>
            <a:off x="11049000" y="3838575"/>
            <a:ext cx="5905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13137171-D449-4EB2-8F3A-ACE63AEBADDB}"/>
              </a:ext>
            </a:extLst>
          </p:cNvPr>
          <p:cNvSpPr>
            <a:spLocks noGrp="1"/>
          </p:cNvSpPr>
          <p:nvPr/>
        </p:nvSpPr>
        <p:spPr>
          <a:xfrm>
            <a:off x="11049000" y="4238625"/>
            <a:ext cx="3667125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Технологическая карта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10DDEE4-4599-4F5C-A403-AFE5EDCB6A9D}"/>
              </a:ext>
            </a:extLst>
          </p:cNvPr>
          <p:cNvSpPr>
            <a:spLocks noGrp="1"/>
          </p:cNvSpPr>
          <p:nvPr/>
        </p:nvSpPr>
        <p:spPr>
          <a:xfrm>
            <a:off x="11049000" y="4943475"/>
            <a:ext cx="3667125" cy="1123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Периодичность ТО, операции, нормы времени и специальности.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9015778-15A0-4078-81BF-C9811DA39BC0}"/>
              </a:ext>
            </a:extLst>
          </p:cNvPr>
          <p:cNvSpPr>
            <a:spLocks noGrp="1"/>
          </p:cNvSpPr>
          <p:nvPr/>
        </p:nvSpPr>
        <p:spPr>
          <a:xfrm>
            <a:off x="11049000" y="5924550"/>
            <a:ext cx="5905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DBCC9DE-24FD-4C42-98D1-FBC66516F86B}"/>
              </a:ext>
            </a:extLst>
          </p:cNvPr>
          <p:cNvSpPr>
            <a:spLocks noGrp="1"/>
          </p:cNvSpPr>
          <p:nvPr/>
        </p:nvSpPr>
        <p:spPr>
          <a:xfrm>
            <a:off x="11049000" y="6324600"/>
            <a:ext cx="3667125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Основа планирования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382F8A9-7536-45B7-9935-D809E67281DA}"/>
              </a:ext>
            </a:extLst>
          </p:cNvPr>
          <p:cNvSpPr>
            <a:spLocks noGrp="1"/>
          </p:cNvSpPr>
          <p:nvPr/>
        </p:nvSpPr>
        <p:spPr>
          <a:xfrm>
            <a:off x="11049000" y="7029450"/>
            <a:ext cx="3667125" cy="1123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Техкарта связана с техникой и используется при подготовке наряда.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E8D8DA60-6A4D-4DDC-A59C-41044945F785}"/>
              </a:ext>
            </a:extLst>
          </p:cNvPr>
          <p:cNvSpPr>
            <a:spLocks noGrp="1"/>
          </p:cNvSpPr>
          <p:nvPr/>
        </p:nvSpPr>
        <p:spPr>
          <a:xfrm>
            <a:off x="533400" y="8134350"/>
            <a:ext cx="13192125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75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Концепция интерфейса · демонстрационные данные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2677CFC7-E9DC-4E50-B337-F4442954CECA}"/>
              </a:ext>
            </a:extLst>
          </p:cNvPr>
          <p:cNvSpPr>
            <a:spLocks noGrp="1"/>
          </p:cNvSpPr>
          <p:nvPr/>
        </p:nvSpPr>
        <p:spPr>
          <a:xfrm>
            <a:off x="13954125" y="8134350"/>
            <a:ext cx="857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75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02 / 06</a:t>
            </a:r>
          </a:p>
        </p:txBody>
      </p:sp>
    </p:spTree>
    <p:extLst>
      <p:ext uri="{BB962C8B-B14F-4D97-AF65-F5344CB8AC3E}">
        <p14:creationId xmlns:p14="http://schemas.microsoft.com/office/powerpoint/2010/main" val="183519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3A1A754D-7C1F-46F8-A33A-AF397F458968}"/>
              </a:ext>
            </a:extLst>
          </p:cNvPr>
          <p:cNvSpPr>
            <a:spLocks noGrp="1"/>
          </p:cNvSpPr>
          <p:nvPr/>
        </p:nvSpPr>
        <p:spPr>
          <a:xfrm>
            <a:off x="533400" y="257175"/>
            <a:ext cx="97155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350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РАБОЧИЕ СЦЕНАРИИ  /  03</a:t>
            </a:r>
          </a:p>
        </p:txBody>
      </p:sp>
      <p:sp>
        <p:nvSpPr>
          <p:cNvPr id="2" name="Slide title">
            <a:extLst>
              <a:ext uri="{FF2B5EF4-FFF2-40B4-BE49-F238E27FC236}">
                <a16:creationId xmlns:a16="http://schemas.microsoft.com/office/drawing/2014/main" id="{9AE47D84-D2F5-4958-BAF0-D2533BBD3147}"/>
              </a:ext>
            </a:extLst>
          </p:cNvPr>
          <p:cNvSpPr>
            <a:spLocks noGrp="1"/>
          </p:cNvSpPr>
          <p:nvPr/>
        </p:nvSpPr>
        <p:spPr>
          <a:xfrm>
            <a:off x="533400" y="723900"/>
            <a:ext cx="13811250" cy="6572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45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От обращения заказчика к заданию бригаде</a:t>
            </a:r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906250" y="210167"/>
            <a:ext cx="2800350" cy="541691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56E88BA-4626-4EB2-8ACC-2F5F9C420149}"/>
              </a:ext>
            </a:extLst>
          </p:cNvPr>
          <p:cNvSpPr>
            <a:spLocks noGrp="1"/>
          </p:cNvSpPr>
          <p:nvPr/>
        </p:nvSpPr>
        <p:spPr>
          <a:xfrm>
            <a:off x="523875" y="1466850"/>
            <a:ext cx="9734550" cy="64960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8"/>
            </a:solidFill>
          </a:ln>
        </p:spPr>
      </p:sp>
      <p:pic>
        <p:nvPicPr>
          <p:cNvPr id="21" name="Рисунок 2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33400" y="1476375"/>
            <a:ext cx="9715500" cy="6477000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6B00A05-DE6B-45C4-8BC3-F3ECD88B0DB5}"/>
              </a:ext>
            </a:extLst>
          </p:cNvPr>
          <p:cNvSpPr>
            <a:spLocks noGrp="1"/>
          </p:cNvSpPr>
          <p:nvPr/>
        </p:nvSpPr>
        <p:spPr>
          <a:xfrm>
            <a:off x="11049000" y="1752600"/>
            <a:ext cx="5905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B6DD7E9-C050-47FB-858B-82AF40951A6A}"/>
              </a:ext>
            </a:extLst>
          </p:cNvPr>
          <p:cNvSpPr>
            <a:spLocks noGrp="1"/>
          </p:cNvSpPr>
          <p:nvPr/>
        </p:nvSpPr>
        <p:spPr>
          <a:xfrm>
            <a:off x="11049000" y="2152650"/>
            <a:ext cx="3667125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Входящая заявка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27C7DA9-BDB4-4B2C-BA21-BDF2F99835A7}"/>
              </a:ext>
            </a:extLst>
          </p:cNvPr>
          <p:cNvSpPr>
            <a:spLocks noGrp="1"/>
          </p:cNvSpPr>
          <p:nvPr/>
        </p:nvSpPr>
        <p:spPr>
          <a:xfrm>
            <a:off x="11049000" y="2857500"/>
            <a:ext cx="3667125" cy="1123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Сотрудник регистрирует обращение: техника, причина, вид работ и нужная дата.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9E90EC2-AD3C-4A83-8542-BF305C9340FD}"/>
              </a:ext>
            </a:extLst>
          </p:cNvPr>
          <p:cNvSpPr>
            <a:spLocks noGrp="1"/>
          </p:cNvSpPr>
          <p:nvPr/>
        </p:nvSpPr>
        <p:spPr>
          <a:xfrm>
            <a:off x="11049000" y="3838575"/>
            <a:ext cx="5905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B4189D6-D018-4070-974B-CA0CC2A695C4}"/>
              </a:ext>
            </a:extLst>
          </p:cNvPr>
          <p:cNvSpPr>
            <a:spLocks noGrp="1"/>
          </p:cNvSpPr>
          <p:nvPr/>
        </p:nvSpPr>
        <p:spPr>
          <a:xfrm>
            <a:off x="11049000" y="4238625"/>
            <a:ext cx="3667125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Внутренний наряд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8066057-68F6-4080-963A-81C57923EF89}"/>
              </a:ext>
            </a:extLst>
          </p:cNvPr>
          <p:cNvSpPr>
            <a:spLocks noGrp="1"/>
          </p:cNvSpPr>
          <p:nvPr/>
        </p:nvSpPr>
        <p:spPr>
          <a:xfrm>
            <a:off x="11049000" y="4943475"/>
            <a:ext cx="3667125" cy="1123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Мастер задает состав работ, назначает бригаду и планирует сроки.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6D42189C-05DE-4FF4-A3D7-A5E158A3A695}"/>
              </a:ext>
            </a:extLst>
          </p:cNvPr>
          <p:cNvSpPr>
            <a:spLocks noGrp="1"/>
          </p:cNvSpPr>
          <p:nvPr/>
        </p:nvSpPr>
        <p:spPr>
          <a:xfrm>
            <a:off x="11049000" y="5924550"/>
            <a:ext cx="5905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01C8F55E-F779-4809-A878-CB3AB4A040E9}"/>
              </a:ext>
            </a:extLst>
          </p:cNvPr>
          <p:cNvSpPr>
            <a:spLocks noGrp="1"/>
          </p:cNvSpPr>
          <p:nvPr/>
        </p:nvSpPr>
        <p:spPr>
          <a:xfrm>
            <a:off x="11049000" y="6324600"/>
            <a:ext cx="3667125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Связь документов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5689F0DF-C4BE-4D65-8BEA-3C6F449D50B3}"/>
              </a:ext>
            </a:extLst>
          </p:cNvPr>
          <p:cNvSpPr>
            <a:spLocks noGrp="1"/>
          </p:cNvSpPr>
          <p:nvPr/>
        </p:nvSpPr>
        <p:spPr>
          <a:xfrm>
            <a:off x="11049000" y="7029450"/>
            <a:ext cx="3667125" cy="1123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Наряд сохраняет основание — заявку. Операции берутся из техкарты.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0F2C2B08-2FB6-4C1F-85C3-B0B42D3271E6}"/>
              </a:ext>
            </a:extLst>
          </p:cNvPr>
          <p:cNvSpPr>
            <a:spLocks noGrp="1"/>
          </p:cNvSpPr>
          <p:nvPr/>
        </p:nvSpPr>
        <p:spPr>
          <a:xfrm>
            <a:off x="533400" y="8134350"/>
            <a:ext cx="13192125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75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Концепция интерфейса · демонстрационные данные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CE6FE62-8935-43E8-AAF5-C33950E3AF5D}"/>
              </a:ext>
            </a:extLst>
          </p:cNvPr>
          <p:cNvSpPr>
            <a:spLocks noGrp="1"/>
          </p:cNvSpPr>
          <p:nvPr/>
        </p:nvSpPr>
        <p:spPr>
          <a:xfrm>
            <a:off x="13954125" y="8134350"/>
            <a:ext cx="857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75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03 / 06</a:t>
            </a:r>
          </a:p>
        </p:txBody>
      </p:sp>
    </p:spTree>
    <p:extLst>
      <p:ext uri="{BB962C8B-B14F-4D97-AF65-F5344CB8AC3E}">
        <p14:creationId xmlns:p14="http://schemas.microsoft.com/office/powerpoint/2010/main" val="1997717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33C16B3D-7096-486D-A938-65F3AEAA4A91}"/>
              </a:ext>
            </a:extLst>
          </p:cNvPr>
          <p:cNvSpPr>
            <a:spLocks noGrp="1"/>
          </p:cNvSpPr>
          <p:nvPr/>
        </p:nvSpPr>
        <p:spPr>
          <a:xfrm>
            <a:off x="533400" y="257175"/>
            <a:ext cx="97155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350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РАБОЧИЕ СЦЕНАРИИ  /  04</a:t>
            </a:r>
          </a:p>
        </p:txBody>
      </p:sp>
      <p:sp>
        <p:nvSpPr>
          <p:cNvPr id="2" name="Slide title">
            <a:extLst>
              <a:ext uri="{FF2B5EF4-FFF2-40B4-BE49-F238E27FC236}">
                <a16:creationId xmlns:a16="http://schemas.microsoft.com/office/drawing/2014/main" id="{541F0EAA-6624-4B21-869A-3A6BE485E5E9}"/>
              </a:ext>
            </a:extLst>
          </p:cNvPr>
          <p:cNvSpPr>
            <a:spLocks noGrp="1"/>
          </p:cNvSpPr>
          <p:nvPr/>
        </p:nvSpPr>
        <p:spPr>
          <a:xfrm>
            <a:off x="533400" y="723900"/>
            <a:ext cx="13811250" cy="6572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45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Выполненные работы проходят проверку</a:t>
            </a:r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906250" y="210167"/>
            <a:ext cx="2800350" cy="541691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7E3B4A9-F1E2-4C82-AE1B-1E9DB930645D}"/>
              </a:ext>
            </a:extLst>
          </p:cNvPr>
          <p:cNvSpPr>
            <a:spLocks noGrp="1"/>
          </p:cNvSpPr>
          <p:nvPr/>
        </p:nvSpPr>
        <p:spPr>
          <a:xfrm>
            <a:off x="523875" y="1466850"/>
            <a:ext cx="9734550" cy="64960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8"/>
            </a:solidFill>
          </a:ln>
        </p:spPr>
      </p:sp>
      <p:pic>
        <p:nvPicPr>
          <p:cNvPr id="21" name="Рисунок 2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33400" y="1476375"/>
            <a:ext cx="9715500" cy="6477000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BE2B1B7-B7E6-4F53-BF16-0DE976A0413E}"/>
              </a:ext>
            </a:extLst>
          </p:cNvPr>
          <p:cNvSpPr>
            <a:spLocks noGrp="1"/>
          </p:cNvSpPr>
          <p:nvPr/>
        </p:nvSpPr>
        <p:spPr>
          <a:xfrm>
            <a:off x="11049000" y="1752600"/>
            <a:ext cx="5905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C0B80B5-7E0C-4D36-8CEC-67D31B4D8243}"/>
              </a:ext>
            </a:extLst>
          </p:cNvPr>
          <p:cNvSpPr>
            <a:spLocks noGrp="1"/>
          </p:cNvSpPr>
          <p:nvPr/>
        </p:nvSpPr>
        <p:spPr>
          <a:xfrm>
            <a:off x="11049000" y="2152650"/>
            <a:ext cx="3667125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Фиксация факта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31C1067-E0B2-4510-9728-C50C0E2789DF}"/>
              </a:ext>
            </a:extLst>
          </p:cNvPr>
          <p:cNvSpPr>
            <a:spLocks noGrp="1"/>
          </p:cNvSpPr>
          <p:nvPr/>
        </p:nvSpPr>
        <p:spPr>
          <a:xfrm>
            <a:off x="11049000" y="2857500"/>
            <a:ext cx="3667125" cy="1123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Исполнитель указывает операции, трудозатраты, материалы и результат работ.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4555961-2B91-4F2D-9DCB-E1636BDA7D72}"/>
              </a:ext>
            </a:extLst>
          </p:cNvPr>
          <p:cNvSpPr>
            <a:spLocks noGrp="1"/>
          </p:cNvSpPr>
          <p:nvPr/>
        </p:nvSpPr>
        <p:spPr>
          <a:xfrm>
            <a:off x="11049000" y="3838575"/>
            <a:ext cx="5905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47C9CD22-DD8A-4F78-B9C1-A23F53CEEDA1}"/>
              </a:ext>
            </a:extLst>
          </p:cNvPr>
          <p:cNvSpPr>
            <a:spLocks noGrp="1"/>
          </p:cNvSpPr>
          <p:nvPr/>
        </p:nvSpPr>
        <p:spPr>
          <a:xfrm>
            <a:off x="11049000" y="4238625"/>
            <a:ext cx="3667125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Проверка мастером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4132150B-0A22-4655-8AE4-CF3F8EC14C3A}"/>
              </a:ext>
            </a:extLst>
          </p:cNvPr>
          <p:cNvSpPr>
            <a:spLocks noGrp="1"/>
          </p:cNvSpPr>
          <p:nvPr/>
        </p:nvSpPr>
        <p:spPr>
          <a:xfrm>
            <a:off x="11049000" y="4943475"/>
            <a:ext cx="3667125" cy="1123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Мастер сверяет выполнение, подтверждает результат или возвращает на доработку.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82DACA0-3F1A-43DB-800E-FA27CC8A39A3}"/>
              </a:ext>
            </a:extLst>
          </p:cNvPr>
          <p:cNvSpPr>
            <a:spLocks noGrp="1"/>
          </p:cNvSpPr>
          <p:nvPr/>
        </p:nvSpPr>
        <p:spPr>
          <a:xfrm>
            <a:off x="11049000" y="5924550"/>
            <a:ext cx="5905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16CF21E2-FF71-4FB9-9ADF-6959FB51466F}"/>
              </a:ext>
            </a:extLst>
          </p:cNvPr>
          <p:cNvSpPr>
            <a:spLocks noGrp="1"/>
          </p:cNvSpPr>
          <p:nvPr/>
        </p:nvSpPr>
        <p:spPr>
          <a:xfrm>
            <a:off x="11049000" y="6324600"/>
            <a:ext cx="3667125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История техники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98C04D2-DBB7-4036-AF50-71EE558F12A7}"/>
              </a:ext>
            </a:extLst>
          </p:cNvPr>
          <p:cNvSpPr>
            <a:spLocks noGrp="1"/>
          </p:cNvSpPr>
          <p:nvPr/>
        </p:nvSpPr>
        <p:spPr>
          <a:xfrm>
            <a:off x="11049000" y="7029450"/>
            <a:ext cx="3667125" cy="1123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Сохраняются принятые работы, наработка, вложения и ответственные.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012A326B-2A4E-4083-9A0B-BD3CCF1EA7E9}"/>
              </a:ext>
            </a:extLst>
          </p:cNvPr>
          <p:cNvSpPr>
            <a:spLocks noGrp="1"/>
          </p:cNvSpPr>
          <p:nvPr/>
        </p:nvSpPr>
        <p:spPr>
          <a:xfrm>
            <a:off x="533400" y="8134350"/>
            <a:ext cx="13192125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75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Концепция интерфейса · демонстрационные данные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BB47D4D2-3A32-4DE6-901A-6932AC1289A2}"/>
              </a:ext>
            </a:extLst>
          </p:cNvPr>
          <p:cNvSpPr>
            <a:spLocks noGrp="1"/>
          </p:cNvSpPr>
          <p:nvPr/>
        </p:nvSpPr>
        <p:spPr>
          <a:xfrm>
            <a:off x="13954125" y="8134350"/>
            <a:ext cx="857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75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04 / 06</a:t>
            </a:r>
          </a:p>
        </p:txBody>
      </p:sp>
    </p:spTree>
    <p:extLst>
      <p:ext uri="{BB962C8B-B14F-4D97-AF65-F5344CB8AC3E}">
        <p14:creationId xmlns:p14="http://schemas.microsoft.com/office/powerpoint/2010/main" val="391649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40817500-54F6-4C2C-A57D-D4F2E25B23F4}"/>
              </a:ext>
            </a:extLst>
          </p:cNvPr>
          <p:cNvSpPr>
            <a:spLocks noGrp="1"/>
          </p:cNvSpPr>
          <p:nvPr/>
        </p:nvSpPr>
        <p:spPr>
          <a:xfrm>
            <a:off x="533400" y="257175"/>
            <a:ext cx="97155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350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РАЗВИТИЕ ПОСЛЕ MVP  /  05</a:t>
            </a:r>
          </a:p>
        </p:txBody>
      </p:sp>
      <p:sp>
        <p:nvSpPr>
          <p:cNvPr id="2" name="Slide title">
            <a:extLst>
              <a:ext uri="{FF2B5EF4-FFF2-40B4-BE49-F238E27FC236}">
                <a16:creationId xmlns:a16="http://schemas.microsoft.com/office/drawing/2014/main" id="{E6C502D9-EAC3-49ED-AC88-F7E848A13678}"/>
              </a:ext>
            </a:extLst>
          </p:cNvPr>
          <p:cNvSpPr>
            <a:spLocks noGrp="1"/>
          </p:cNvSpPr>
          <p:nvPr/>
        </p:nvSpPr>
        <p:spPr>
          <a:xfrm>
            <a:off x="533400" y="723900"/>
            <a:ext cx="13811250" cy="6572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45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Состояние и надежность парка — на одном экране</a:t>
            </a:r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906250" y="210167"/>
            <a:ext cx="2800350" cy="541691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F42A2D1-9994-4BFC-9540-3A2E497DA6FC}"/>
              </a:ext>
            </a:extLst>
          </p:cNvPr>
          <p:cNvSpPr>
            <a:spLocks noGrp="1"/>
          </p:cNvSpPr>
          <p:nvPr/>
        </p:nvSpPr>
        <p:spPr>
          <a:xfrm>
            <a:off x="523875" y="1466850"/>
            <a:ext cx="9734550" cy="64960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8"/>
            </a:solidFill>
          </a:ln>
        </p:spPr>
      </p:sp>
      <p:pic>
        <p:nvPicPr>
          <p:cNvPr id="21" name="Рисунок 2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33400" y="1476375"/>
            <a:ext cx="9715500" cy="6477000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E3F694E-8289-4B40-9C37-DFB023D5CA40}"/>
              </a:ext>
            </a:extLst>
          </p:cNvPr>
          <p:cNvSpPr>
            <a:spLocks noGrp="1"/>
          </p:cNvSpPr>
          <p:nvPr/>
        </p:nvSpPr>
        <p:spPr>
          <a:xfrm>
            <a:off x="11049000" y="1752600"/>
            <a:ext cx="5905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4E7A832-0B68-48DE-9EB8-24978BE3654F}"/>
              </a:ext>
            </a:extLst>
          </p:cNvPr>
          <p:cNvSpPr>
            <a:spLocks noGrp="1"/>
          </p:cNvSpPr>
          <p:nvPr/>
        </p:nvSpPr>
        <p:spPr>
          <a:xfrm>
            <a:off x="11049000" y="2152650"/>
            <a:ext cx="3667125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Состояние парка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7F1E0E6-7DF2-4446-8D4E-FE344D0211A0}"/>
              </a:ext>
            </a:extLst>
          </p:cNvPr>
          <p:cNvSpPr>
            <a:spLocks noGrp="1"/>
          </p:cNvSpPr>
          <p:nvPr/>
        </p:nvSpPr>
        <p:spPr>
          <a:xfrm>
            <a:off x="11049000" y="2857500"/>
            <a:ext cx="3667125" cy="1123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Какая техника готова к работе, находится на ТО или в ремонте.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AF562D2-07EF-4A89-80ED-62960C6FBBEB}"/>
              </a:ext>
            </a:extLst>
          </p:cNvPr>
          <p:cNvSpPr>
            <a:spLocks noGrp="1"/>
          </p:cNvSpPr>
          <p:nvPr/>
        </p:nvSpPr>
        <p:spPr>
          <a:xfrm>
            <a:off x="11049000" y="3838575"/>
            <a:ext cx="5905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5DE3CEA-9585-4CA4-8778-ED8D40353080}"/>
              </a:ext>
            </a:extLst>
          </p:cNvPr>
          <p:cNvSpPr>
            <a:spLocks noGrp="1"/>
          </p:cNvSpPr>
          <p:nvPr/>
        </p:nvSpPr>
        <p:spPr>
          <a:xfrm>
            <a:off x="11049000" y="4238625"/>
            <a:ext cx="3667125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Показатели надежности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DCD3038-9D06-4526-BE81-4A5785FB63D5}"/>
              </a:ext>
            </a:extLst>
          </p:cNvPr>
          <p:cNvSpPr>
            <a:spLocks noGrp="1"/>
          </p:cNvSpPr>
          <p:nvPr/>
        </p:nvSpPr>
        <p:spPr>
          <a:xfrm>
            <a:off x="11049000" y="4943475"/>
            <a:ext cx="3667125" cy="1123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Наработка между отказами, время восстановления и причины простоев.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8533468-C3AA-48DA-948D-6F9A5CB65CDE}"/>
              </a:ext>
            </a:extLst>
          </p:cNvPr>
          <p:cNvSpPr>
            <a:spLocks noGrp="1"/>
          </p:cNvSpPr>
          <p:nvPr/>
        </p:nvSpPr>
        <p:spPr>
          <a:xfrm>
            <a:off x="11049000" y="5924550"/>
            <a:ext cx="5905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8D153705-EA44-4E58-8710-91E53ABDD3D9}"/>
              </a:ext>
            </a:extLst>
          </p:cNvPr>
          <p:cNvSpPr>
            <a:spLocks noGrp="1"/>
          </p:cNvSpPr>
          <p:nvPr/>
        </p:nvSpPr>
        <p:spPr>
          <a:xfrm>
            <a:off x="11049000" y="6324600"/>
            <a:ext cx="3667125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Данные для решений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2CAADEB7-4016-402B-B5E0-8F93B710B6BC}"/>
              </a:ext>
            </a:extLst>
          </p:cNvPr>
          <p:cNvSpPr>
            <a:spLocks noGrp="1"/>
          </p:cNvSpPr>
          <p:nvPr/>
        </p:nvSpPr>
        <p:spPr>
          <a:xfrm>
            <a:off x="11049000" y="7029450"/>
            <a:ext cx="3667125" cy="1123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Выявление проблемных машин и узлов, уточнение планов обслуживания.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3B0E4D63-CD0F-44BF-B69D-F74A98309827}"/>
              </a:ext>
            </a:extLst>
          </p:cNvPr>
          <p:cNvSpPr>
            <a:spLocks noGrp="1"/>
          </p:cNvSpPr>
          <p:nvPr/>
        </p:nvSpPr>
        <p:spPr>
          <a:xfrm>
            <a:off x="533400" y="8134350"/>
            <a:ext cx="13192125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75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Следующий этап · демонстрационные показатели · методики расчета подлежат согласованию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BCA42DB-8827-46C0-9B34-A6A0A4922D8D}"/>
              </a:ext>
            </a:extLst>
          </p:cNvPr>
          <p:cNvSpPr>
            <a:spLocks noGrp="1"/>
          </p:cNvSpPr>
          <p:nvPr/>
        </p:nvSpPr>
        <p:spPr>
          <a:xfrm>
            <a:off x="13954125" y="8134350"/>
            <a:ext cx="857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75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05 / 06</a:t>
            </a:r>
          </a:p>
        </p:txBody>
      </p:sp>
    </p:spTree>
    <p:extLst>
      <p:ext uri="{BB962C8B-B14F-4D97-AF65-F5344CB8AC3E}">
        <p14:creationId xmlns:p14="http://schemas.microsoft.com/office/powerpoint/2010/main" val="1807005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A0473A63-0399-41AE-AF15-3F7AB9474600}"/>
              </a:ext>
            </a:extLst>
          </p:cNvPr>
          <p:cNvSpPr>
            <a:spLocks noGrp="1"/>
          </p:cNvSpPr>
          <p:nvPr/>
        </p:nvSpPr>
        <p:spPr>
          <a:xfrm>
            <a:off x="533400" y="304800"/>
            <a:ext cx="80962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350" b="1">
                <a:solidFill>
                  <a:srgbClr val="65B7EC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65B7EC"/>
                </a:solidFill>
                <a:latin typeface="Segoe UI"/>
                <a:ea typeface="Segoe UI"/>
                <a:cs typeface="Segoe UI"/>
              </a:rPr>
              <a:t>ПРЕИМУЩЕСТВА  /  06</a:t>
            </a:r>
          </a:p>
        </p:txBody>
      </p:sp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906250" y="210167"/>
            <a:ext cx="2800350" cy="541691"/>
          </a:xfrm>
          <a:prstGeom prst="rect">
            <a:avLst/>
          </a:prstGeom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CC8D3864-531E-466F-9F70-C1AEA14E5005}"/>
              </a:ext>
            </a:extLst>
          </p:cNvPr>
          <p:cNvSpPr>
            <a:spLocks noGrp="1"/>
          </p:cNvSpPr>
          <p:nvPr/>
        </p:nvSpPr>
        <p:spPr>
          <a:xfrm>
            <a:off x="533400" y="962025"/>
            <a:ext cx="13716000" cy="1390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4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4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Управляемый процесс ремонта</a:t>
            </a:r>
          </a:p>
          <a:p>
            <a:pPr>
              <a:defRPr sz="4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4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и достоверная история техники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50A25EA-400F-48FC-BE5E-7363BEA3FE0A}"/>
              </a:ext>
            </a:extLst>
          </p:cNvPr>
          <p:cNvSpPr>
            <a:spLocks noGrp="1"/>
          </p:cNvSpPr>
          <p:nvPr/>
        </p:nvSpPr>
        <p:spPr>
          <a:xfrm>
            <a:off x="533400" y="3076575"/>
            <a:ext cx="704850" cy="5048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550" b="1">
                <a:solidFill>
                  <a:srgbClr val="65B7EC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65B7EC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153EFF6-0A94-4824-B9DD-58351DF86923}"/>
              </a:ext>
            </a:extLst>
          </p:cNvPr>
          <p:cNvSpPr>
            <a:spLocks noGrp="1"/>
          </p:cNvSpPr>
          <p:nvPr/>
        </p:nvSpPr>
        <p:spPr>
          <a:xfrm>
            <a:off x="1409700" y="3095625"/>
            <a:ext cx="588645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Прозрачное выполнение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B9FA9FE-8F97-44DD-B97E-39A105EF2B83}"/>
              </a:ext>
            </a:extLst>
          </p:cNvPr>
          <p:cNvSpPr>
            <a:spLocks noGrp="1"/>
          </p:cNvSpPr>
          <p:nvPr/>
        </p:nvSpPr>
        <p:spPr>
          <a:xfrm>
            <a:off x="1409700" y="3705225"/>
            <a:ext cx="5857875" cy="8667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025" b="0">
                <a:solidFill>
                  <a:srgbClr val="B8C1C8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По каждой заявке видны статус, сроки,</a:t>
            </a:r>
          </a:p>
          <a:p>
            <a:pPr>
              <a:defRPr sz="2025" b="0">
                <a:solidFill>
                  <a:srgbClr val="B8C1C8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ответственный и результат работ.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43A177C-7F0D-4CD6-AF24-9260C11FB555}"/>
              </a:ext>
            </a:extLst>
          </p:cNvPr>
          <p:cNvSpPr>
            <a:spLocks noGrp="1"/>
          </p:cNvSpPr>
          <p:nvPr/>
        </p:nvSpPr>
        <p:spPr>
          <a:xfrm>
            <a:off x="7886700" y="3076575"/>
            <a:ext cx="704850" cy="5048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550" b="1">
                <a:solidFill>
                  <a:srgbClr val="65B7EC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65B7EC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DD87653-91E3-477D-8C49-66BA4B06A01C}"/>
              </a:ext>
            </a:extLst>
          </p:cNvPr>
          <p:cNvSpPr>
            <a:spLocks noGrp="1"/>
          </p:cNvSpPr>
          <p:nvPr/>
        </p:nvSpPr>
        <p:spPr>
          <a:xfrm>
            <a:off x="8763000" y="3095625"/>
            <a:ext cx="588645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Единые нормативы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4E5CF5D-0249-4077-A2B4-4F8C0517ACE3}"/>
              </a:ext>
            </a:extLst>
          </p:cNvPr>
          <p:cNvSpPr>
            <a:spLocks noGrp="1"/>
          </p:cNvSpPr>
          <p:nvPr/>
        </p:nvSpPr>
        <p:spPr>
          <a:xfrm>
            <a:off x="8763000" y="3705225"/>
            <a:ext cx="5857875" cy="8667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025" b="0">
                <a:solidFill>
                  <a:srgbClr val="B8C1C8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Техкарты задают состав операций</a:t>
            </a:r>
          </a:p>
          <a:p>
            <a:pPr>
              <a:defRPr sz="2025" b="0">
                <a:solidFill>
                  <a:srgbClr val="B8C1C8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и основу для сравнения плана с фактом.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C651170-4FE4-4B9E-A5A9-0826F9655AAB}"/>
              </a:ext>
            </a:extLst>
          </p:cNvPr>
          <p:cNvSpPr>
            <a:spLocks noGrp="1"/>
          </p:cNvSpPr>
          <p:nvPr/>
        </p:nvSpPr>
        <p:spPr>
          <a:xfrm>
            <a:off x="533400" y="5057775"/>
            <a:ext cx="704850" cy="5048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550" b="1">
                <a:solidFill>
                  <a:srgbClr val="65B7EC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65B7EC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768810B-AD23-41BC-95AF-A6F0116E928E}"/>
              </a:ext>
            </a:extLst>
          </p:cNvPr>
          <p:cNvSpPr>
            <a:spLocks noGrp="1"/>
          </p:cNvSpPr>
          <p:nvPr/>
        </p:nvSpPr>
        <p:spPr>
          <a:xfrm>
            <a:off x="1409700" y="5076825"/>
            <a:ext cx="588645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История каждой машины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FD2B403-A130-4A91-AC71-9DB151A24E2B}"/>
              </a:ext>
            </a:extLst>
          </p:cNvPr>
          <p:cNvSpPr>
            <a:spLocks noGrp="1"/>
          </p:cNvSpPr>
          <p:nvPr/>
        </p:nvSpPr>
        <p:spPr>
          <a:xfrm>
            <a:off x="1409700" y="5686425"/>
            <a:ext cx="5857875" cy="8667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025" b="0">
                <a:solidFill>
                  <a:srgbClr val="B8C1C8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Работы, наработка и материалы собраны</a:t>
            </a:r>
          </a:p>
          <a:p>
            <a:pPr>
              <a:defRPr sz="2025" b="0">
                <a:solidFill>
                  <a:srgbClr val="B8C1C8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в одном месте и доступны специалистам.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59CD5CD-5311-41BC-A4FA-724AB3E83444}"/>
              </a:ext>
            </a:extLst>
          </p:cNvPr>
          <p:cNvSpPr>
            <a:spLocks noGrp="1"/>
          </p:cNvSpPr>
          <p:nvPr/>
        </p:nvSpPr>
        <p:spPr>
          <a:xfrm>
            <a:off x="7886700" y="5057775"/>
            <a:ext cx="704850" cy="5048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550" b="1">
                <a:solidFill>
                  <a:srgbClr val="65B7EC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65B7EC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D9E2461-32F0-4670-B5B8-5C1E606534C4}"/>
              </a:ext>
            </a:extLst>
          </p:cNvPr>
          <p:cNvSpPr>
            <a:spLocks noGrp="1"/>
          </p:cNvSpPr>
          <p:nvPr/>
        </p:nvSpPr>
        <p:spPr>
          <a:xfrm>
            <a:off x="8763000" y="5076825"/>
            <a:ext cx="588645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Развитие под ваши процессы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7420A314-E7E0-4D7D-AA88-B32FCE8CAF46}"/>
              </a:ext>
            </a:extLst>
          </p:cNvPr>
          <p:cNvSpPr>
            <a:spLocks noGrp="1"/>
          </p:cNvSpPr>
          <p:nvPr/>
        </p:nvSpPr>
        <p:spPr>
          <a:xfrm>
            <a:off x="8763000" y="5686425"/>
            <a:ext cx="5857875" cy="8667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025" b="0">
                <a:solidFill>
                  <a:srgbClr val="B8C1C8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Функционал внедряется шагами:</a:t>
            </a:r>
          </a:p>
          <a:p>
            <a:pPr>
              <a:defRPr sz="2025" b="0">
                <a:solidFill>
                  <a:srgbClr val="B8C1C8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проверяем на практике и корректируем.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DB87283-9E22-4CB4-A8FB-D2C67F2D1264}"/>
              </a:ext>
            </a:extLst>
          </p:cNvPr>
          <p:cNvSpPr>
            <a:spLocks noGrp="1"/>
          </p:cNvSpPr>
          <p:nvPr/>
        </p:nvSpPr>
        <p:spPr>
          <a:xfrm>
            <a:off x="533400" y="7286625"/>
            <a:ext cx="14173200" cy="9525"/>
          </a:xfrm>
          <a:prstGeom prst="rect">
            <a:avLst/>
          </a:prstGeom>
          <a:solidFill>
            <a:srgbClr val="4C555B"/>
          </a:solidFill>
          <a:ln w="0">
            <a:noFill/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9A20A8EB-DDC4-4593-883D-F64A7E074741}"/>
              </a:ext>
            </a:extLst>
          </p:cNvPr>
          <p:cNvSpPr>
            <a:spLocks noGrp="1"/>
          </p:cNvSpPr>
          <p:nvPr/>
        </p:nvSpPr>
        <p:spPr>
          <a:xfrm>
            <a:off x="533400" y="7524750"/>
            <a:ext cx="140017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Начинаем с базовых процессов. Аналитику развиваем на накопленных данных.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03DF7939-4680-462C-8FA0-9BF961B7EF6F}"/>
              </a:ext>
            </a:extLst>
          </p:cNvPr>
          <p:cNvSpPr>
            <a:spLocks noGrp="1"/>
          </p:cNvSpPr>
          <p:nvPr/>
        </p:nvSpPr>
        <p:spPr>
          <a:xfrm>
            <a:off x="533400" y="8134350"/>
            <a:ext cx="13192125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75" b="0">
                <a:solidFill>
                  <a:srgbClr val="B8C1C8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Ожидаемые преимущества · количественный эффект оценивается после пилота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EE8608EE-BC8B-4193-8B3C-09A8C693FEAB}"/>
              </a:ext>
            </a:extLst>
          </p:cNvPr>
          <p:cNvSpPr>
            <a:spLocks noGrp="1"/>
          </p:cNvSpPr>
          <p:nvPr/>
        </p:nvSpPr>
        <p:spPr>
          <a:xfrm>
            <a:off x="13954125" y="8134350"/>
            <a:ext cx="857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75" b="0">
                <a:solidFill>
                  <a:srgbClr val="B8C1C8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06 / 06</a:t>
            </a:r>
          </a:p>
        </p:txBody>
      </p:sp>
    </p:spTree>
    <p:extLst>
      <p:ext uri="{BB962C8B-B14F-4D97-AF65-F5344CB8AC3E}">
        <p14:creationId xmlns:p14="http://schemas.microsoft.com/office/powerpoint/2010/main" val="210087833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450</Words>
  <Application>Microsoft Office PowerPoint</Application>
  <DocSecurity>0</DocSecurity>
  <PresentationFormat>Произвольный</PresentationFormat>
  <Paragraphs>102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9" baseType="lpstr">
      <vt:lpstr>Calibri</vt:lpstr>
      <vt:lpstr>Segoe UI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Петрикин Иван Витальевич</cp:lastModifiedBy>
  <cp:revision>1</cp:revision>
  <dcterms:created xsi:type="dcterms:W3CDTF">2026-09-09T06:55:49Z</dcterms:created>
  <dcterms:modified xsi:type="dcterms:W3CDTF">2026-09-09T07:03:43Z</dcterms:modified>
</cp:coreProperties>
</file>