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3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13E15CC-EF74-4BF1-A15A-245454C7F6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8572500"/>
          </a:xfrm>
          <a:prstGeom prst="rect">
            <a:avLst/>
          </a:prstGeom>
          <a:solidFill>
            <a:srgbClr val="1C1E20"/>
          </a:solidFill>
          <a:ln w="0">
            <a:noFill/>
          </a:ln>
        </p:spPr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532981"/>
            <a:ext cx="4714875" cy="724739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7D54E1DE-04B0-4CAA-BBA3-4201CC5761B5}"/>
              </a:ext>
            </a:extLst>
          </p:cNvPr>
          <p:cNvSpPr>
            <a:spLocks noGrp="1"/>
          </p:cNvSpPr>
          <p:nvPr/>
        </p:nvSpPr>
        <p:spPr>
          <a:xfrm>
            <a:off x="533400" y="2209800"/>
            <a:ext cx="4905375" cy="2190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Система</a:t>
            </a:r>
          </a:p>
          <a:p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управления</a:t>
            </a:r>
          </a:p>
          <a:p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ремонтами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1D8FE7-2EC9-40E1-AEEB-F7980E94A846}"/>
              </a:ext>
            </a:extLst>
          </p:cNvPr>
          <p:cNvSpPr>
            <a:spLocks noGrp="1"/>
          </p:cNvSpPr>
          <p:nvPr/>
        </p:nvSpPr>
        <p:spPr>
          <a:xfrm>
            <a:off x="533400" y="4943475"/>
            <a:ext cx="474345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Единое рабочее место</a:t>
            </a:r>
          </a:p>
          <a:p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для планирования, выполнения</a:t>
            </a:r>
          </a:p>
          <a:p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 контроля ТОиР.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18D49C-E13B-43B3-A82D-A9B8F1CBB79A}"/>
              </a:ext>
            </a:extLst>
          </p:cNvPr>
          <p:cNvSpPr>
            <a:spLocks noGrp="1"/>
          </p:cNvSpPr>
          <p:nvPr/>
        </p:nvSpPr>
        <p:spPr>
          <a:xfrm>
            <a:off x="75779" y="7019925"/>
            <a:ext cx="5602593" cy="127029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lang="ru-RU" sz="187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Самоходная техника (ПДМ, Шахтные/Карьерные самосвалы, СБУ, вспомогательная техника)</a:t>
            </a:r>
            <a:br>
              <a:rPr lang="ru-RU" sz="187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</a:br>
            <a:endParaRPr lang="ru-RU" sz="1875" b="0" dirty="0" smtClean="0">
              <a:solidFill>
                <a:srgbClr val="B8C1C8"/>
              </a:solidFill>
              <a:latin typeface="Segoe UI"/>
              <a:ea typeface="Segoe UI"/>
              <a:cs typeface="Segoe UI"/>
            </a:endParaRPr>
          </a:p>
          <a:p>
            <a:pPr>
              <a:defRPr sz="18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lang="ru-RU" sz="187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Стационарное оборудование</a:t>
            </a:r>
            <a:endParaRPr sz="1875" b="0" dirty="0">
              <a:solidFill>
                <a:srgbClr val="B8C1C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CCF2DA-FEF9-408A-8037-D4A1A7C261AF}"/>
              </a:ext>
            </a:extLst>
          </p:cNvPr>
          <p:cNvSpPr>
            <a:spLocks noGrp="1"/>
          </p:cNvSpPr>
          <p:nvPr/>
        </p:nvSpPr>
        <p:spPr>
          <a:xfrm>
            <a:off x="6429375" y="37147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КОНЦЕПЦИЯ  /  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C4E1B16-B9F1-4DED-9B83-DF55D9F74A34}"/>
              </a:ext>
            </a:extLst>
          </p:cNvPr>
          <p:cNvSpPr>
            <a:spLocks noGrp="1"/>
          </p:cNvSpPr>
          <p:nvPr/>
        </p:nvSpPr>
        <p:spPr>
          <a:xfrm>
            <a:off x="6429375" y="876300"/>
            <a:ext cx="8096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1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1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От</a:t>
            </a:r>
            <a:r>
              <a:rPr sz="315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1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карточки</a:t>
            </a:r>
            <a:r>
              <a:rPr sz="315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1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техники</a:t>
            </a:r>
            <a:endParaRPr sz="3150" b="1" dirty="0">
              <a:solidFill>
                <a:srgbClr val="1C1E20"/>
              </a:solidFill>
              <a:latin typeface="Segoe UI"/>
              <a:ea typeface="Segoe UI"/>
              <a:cs typeface="Segoe UI"/>
            </a:endParaRPr>
          </a:p>
          <a:p>
            <a:pPr>
              <a:defRPr sz="31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1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до</a:t>
            </a:r>
            <a:r>
              <a:rPr sz="315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1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подтвержденного</a:t>
            </a:r>
            <a:r>
              <a:rPr sz="315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1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результата</a:t>
            </a:r>
            <a:endParaRPr sz="3150" b="1" dirty="0">
              <a:solidFill>
                <a:srgbClr val="1C1E2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7D14F3C-3049-4656-900C-6926B391F40A}"/>
              </a:ext>
            </a:extLst>
          </p:cNvPr>
          <p:cNvSpPr>
            <a:spLocks noGrp="1"/>
          </p:cNvSpPr>
          <p:nvPr/>
        </p:nvSpPr>
        <p:spPr>
          <a:xfrm>
            <a:off x="6429375" y="2171700"/>
            <a:ext cx="7905750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Регламентное</a:t>
            </a:r>
            <a:r>
              <a:rPr sz="202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ТО-250, ТО-500 </a:t>
            </a:r>
            <a:r>
              <a:rPr sz="2025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</a:t>
            </a:r>
            <a:r>
              <a:rPr lang="ru-RU" sz="2025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ru-RU" sz="2025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т.д</a:t>
            </a:r>
            <a:r>
              <a:rPr lang="ru-RU" sz="2025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.</a:t>
            </a:r>
            <a:endParaRPr sz="2025" b="0" dirty="0">
              <a:solidFill>
                <a:srgbClr val="59636C"/>
              </a:solidFill>
              <a:latin typeface="Segoe UI"/>
              <a:ea typeface="Segoe UI"/>
              <a:cs typeface="Segoe UI"/>
            </a:endParaRPr>
          </a:p>
          <a:p>
            <a:pPr>
              <a:defRPr sz="20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lang="ru-RU" sz="2025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Учет всех </a:t>
            </a:r>
            <a:r>
              <a:rPr sz="2025" b="0" dirty="0" err="1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плановы</a:t>
            </a:r>
            <a:r>
              <a:rPr lang="ru-RU" sz="2025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х</a:t>
            </a:r>
            <a:r>
              <a:rPr sz="2025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 </a:t>
            </a:r>
            <a:r>
              <a:rPr sz="2025" b="0" dirty="0" err="1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аварийны</a:t>
            </a:r>
            <a:r>
              <a:rPr lang="ru-RU" sz="2025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х</a:t>
            </a:r>
            <a:r>
              <a:rPr sz="2025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ремонт</a:t>
            </a:r>
            <a:r>
              <a:rPr lang="ru-RU" sz="2025" b="0" dirty="0" err="1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ов</a:t>
            </a:r>
            <a:r>
              <a:rPr sz="2025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.</a:t>
            </a:r>
            <a:endParaRPr sz="2025" b="0" dirty="0">
              <a:solidFill>
                <a:srgbClr val="59636C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FEFE200-2A12-43C3-8589-BFCD582BC310}"/>
              </a:ext>
            </a:extLst>
          </p:cNvPr>
          <p:cNvSpPr>
            <a:spLocks noGrp="1"/>
          </p:cNvSpPr>
          <p:nvPr/>
        </p:nvSpPr>
        <p:spPr>
          <a:xfrm>
            <a:off x="6429375" y="32575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8710F4-C01F-4A99-9F18-CEDA917D4A2E}"/>
              </a:ext>
            </a:extLst>
          </p:cNvPr>
          <p:cNvSpPr>
            <a:spLocks noGrp="1"/>
          </p:cNvSpPr>
          <p:nvPr/>
        </p:nvSpPr>
        <p:spPr>
          <a:xfrm>
            <a:off x="7191375" y="32575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Оборудование и нормативы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CF7D240-813E-4684-917C-AE2C07BB0872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Карточки машин, наработка, регламенты, техкарты.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9FE2FBF-B0CE-4CC4-AC86-3540E07AE611}"/>
              </a:ext>
            </a:extLst>
          </p:cNvPr>
          <p:cNvSpPr>
            <a:spLocks noGrp="1"/>
          </p:cNvSpPr>
          <p:nvPr/>
        </p:nvSpPr>
        <p:spPr>
          <a:xfrm>
            <a:off x="6429375" y="414337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84CB0C2-8210-455A-BF7C-F5CB693CB188}"/>
              </a:ext>
            </a:extLst>
          </p:cNvPr>
          <p:cNvSpPr>
            <a:spLocks noGrp="1"/>
          </p:cNvSpPr>
          <p:nvPr/>
        </p:nvSpPr>
        <p:spPr>
          <a:xfrm>
            <a:off x="7191375" y="4143375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Заявка</a:t>
            </a:r>
            <a:r>
              <a:rPr sz="210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210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планирование</a:t>
            </a:r>
            <a:endParaRPr sz="2100" b="1" dirty="0">
              <a:solidFill>
                <a:srgbClr val="1C1E2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FA7EB4E-9B15-4535-BB6F-F2AD23FD4022}"/>
              </a:ext>
            </a:extLst>
          </p:cNvPr>
          <p:cNvSpPr>
            <a:spLocks noGrp="1"/>
          </p:cNvSpPr>
          <p:nvPr/>
        </p:nvSpPr>
        <p:spPr>
          <a:xfrm>
            <a:off x="7191375" y="4524375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Потребность заказчика, сроки и приоритет работ.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97C4EC0-A573-4F40-A658-F5A0FC07F422}"/>
              </a:ext>
            </a:extLst>
          </p:cNvPr>
          <p:cNvSpPr>
            <a:spLocks noGrp="1"/>
          </p:cNvSpPr>
          <p:nvPr/>
        </p:nvSpPr>
        <p:spPr>
          <a:xfrm>
            <a:off x="6429375" y="50292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EC2DE3F-7764-4BB8-863B-4529B451F6F0}"/>
              </a:ext>
            </a:extLst>
          </p:cNvPr>
          <p:cNvSpPr>
            <a:spLocks noGrp="1"/>
          </p:cNvSpPr>
          <p:nvPr/>
        </p:nvSpPr>
        <p:spPr>
          <a:xfrm>
            <a:off x="7191375" y="502920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Наряд-заказ и выполнение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0FA9FFB-CE6B-421C-8327-7277AAA09708}"/>
              </a:ext>
            </a:extLst>
          </p:cNvPr>
          <p:cNvSpPr>
            <a:spLocks noGrp="1"/>
          </p:cNvSpPr>
          <p:nvPr/>
        </p:nvSpPr>
        <p:spPr>
          <a:xfrm>
            <a:off x="7191375" y="541020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Операции, ответственные, бригада и ресурсы.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96A538A-7B1D-4F90-853A-853339F758EB}"/>
              </a:ext>
            </a:extLst>
          </p:cNvPr>
          <p:cNvSpPr>
            <a:spLocks noGrp="1"/>
          </p:cNvSpPr>
          <p:nvPr/>
        </p:nvSpPr>
        <p:spPr>
          <a:xfrm>
            <a:off x="6429375" y="5915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203F122-3B65-46AC-BBDA-BCF375974646}"/>
              </a:ext>
            </a:extLst>
          </p:cNvPr>
          <p:cNvSpPr>
            <a:spLocks noGrp="1"/>
          </p:cNvSpPr>
          <p:nvPr/>
        </p:nvSpPr>
        <p:spPr>
          <a:xfrm>
            <a:off x="7191375" y="5915025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Подтверждение результата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DA61806-2B50-44CF-A847-430ED4ACF383}"/>
              </a:ext>
            </a:extLst>
          </p:cNvPr>
          <p:cNvSpPr>
            <a:spLocks noGrp="1"/>
          </p:cNvSpPr>
          <p:nvPr/>
        </p:nvSpPr>
        <p:spPr>
          <a:xfrm>
            <a:off x="7191375" y="6296025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Факт работ, материалы, проверка и история машины.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83FD830-C4D6-4898-A9A3-89D85E736964}"/>
              </a:ext>
            </a:extLst>
          </p:cNvPr>
          <p:cNvSpPr>
            <a:spLocks noGrp="1"/>
          </p:cNvSpPr>
          <p:nvPr/>
        </p:nvSpPr>
        <p:spPr>
          <a:xfrm>
            <a:off x="6429375" y="68008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9CD6E6C-8138-4EC2-AD57-3DEC5300C63E}"/>
              </a:ext>
            </a:extLst>
          </p:cNvPr>
          <p:cNvSpPr>
            <a:spLocks noGrp="1"/>
          </p:cNvSpPr>
          <p:nvPr/>
        </p:nvSpPr>
        <p:spPr>
          <a:xfrm>
            <a:off x="7191375" y="68008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Аналитика · следующий этап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984169E-50C7-49F8-BBE9-0D40A9CAF82A}"/>
              </a:ext>
            </a:extLst>
          </p:cNvPr>
          <p:cNvSpPr>
            <a:spLocks noGrp="1"/>
          </p:cNvSpPr>
          <p:nvPr/>
        </p:nvSpPr>
        <p:spPr>
          <a:xfrm>
            <a:off x="7191375" y="71818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Техническое состояние, отказы и простои.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AF2ED77-D8C2-48E6-8D79-3AF05FF29C62}"/>
              </a:ext>
            </a:extLst>
          </p:cNvPr>
          <p:cNvSpPr>
            <a:spLocks noGrp="1"/>
          </p:cNvSpPr>
          <p:nvPr/>
        </p:nvSpPr>
        <p:spPr>
          <a:xfrm>
            <a:off x="6429375" y="7915275"/>
            <a:ext cx="78581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Первый этап: веб-система без интеграций, отчетов и мобильного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78004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7C99444-824E-492F-8F12-4E83D7CA02FF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lang="ru-RU"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ФУНКЦИОНАЛ СИСТЕМЫ </a:t>
            </a:r>
            <a:r>
              <a:rPr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/  </a:t>
            </a:r>
            <a:r>
              <a:rPr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1FCFABB5-44B8-409E-9AF9-BD0ED93CDF64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Единая</a:t>
            </a:r>
            <a:r>
              <a:rPr sz="345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4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база</a:t>
            </a:r>
            <a:r>
              <a:rPr sz="345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ru-RU" sz="3450" b="1" dirty="0" smtClean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оборудования</a:t>
            </a:r>
            <a:r>
              <a:rPr sz="3450" b="1" dirty="0" smtClean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45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и </a:t>
            </a:r>
            <a:r>
              <a:rPr sz="34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нормативов</a:t>
            </a:r>
            <a:endParaRPr sz="3450" b="1" dirty="0">
              <a:solidFill>
                <a:srgbClr val="1C1E20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AEEEBE2-F48C-4BBA-BA53-12F73E6C2F1E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A0433B0-035E-486C-AF36-C6881BD018CF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4E7FF82-19CF-4854-9AE8-BF2DF406DA54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Карточка оборудования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D0C84A-6AA5-431E-9CBD-603A6ADA528C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Тип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ru-RU" sz="1800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оборудования</a:t>
            </a:r>
            <a:r>
              <a:rPr sz="1800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серийный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номер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заказчик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участок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текущая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наработка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840D083-99CE-460A-992F-4C154E6F4624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8E384C0-1680-4E7A-963A-4053AE8E6BFA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Технологическая карта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37506F1-CDDC-46F3-A5EB-16C6728298FB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Периодичность ТО, операции, нормы времени и специальности.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FBFD3A1-A935-4010-8CD6-5215FDC285A7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405F49B-0098-40AE-95E2-27A3F2D48FC0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Основа планирования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6981F9F-81CB-4FC2-A3CF-55E37659D6BE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Техкарта связана с техникой и используется при подготовке наряда.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700CB9F-0837-4896-A724-B6620F0FB060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F4C7DAB-428B-4087-A0DE-7700E41AB22F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2067646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46AFACD-99F1-4149-B103-7319A5221FD2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lang="ru-RU"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ФУНКЦИОНАЛ СИСТЕМЫ </a:t>
            </a:r>
            <a:r>
              <a:rPr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/  </a:t>
            </a:r>
            <a:r>
              <a:rPr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78725F11-A99E-4F05-8252-DE56D2C0F5CB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От обращения заказчика к заданию бригаде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46F495-528B-4F11-B9D0-8A4169AF14C8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6FC32A-50AB-455A-AD56-3F234B83DDD7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5B001D-D235-49CC-A773-B0598878B6E2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Входящая заявка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687EF18-8274-45C8-8B76-393B9C03863B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Сотрудник регистрирует обращение: техника, причина, вид работ и нужная дата.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9FC400-D00C-40D0-9FB1-AFCF8DFC2906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2BF457A-07AA-4649-87B1-E42704E5E340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Внутренний наряд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F8A3299-BE7C-47CD-9AD8-9DC45A7A9CDE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Мастер задает состав работ, назначает бригаду и планирует сроки.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4D38011-3A70-4589-9342-E0CB1CE5B5F5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AF9C3FC-B408-4936-B001-9F8EA9E79962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Связь документов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B7B28BD-EDF6-4D20-B1F8-69033350791F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Наряд сохраняет основание — заявку. Операции берутся из техкарты.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F8162EC-7584-4B56-A404-5680127207AE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FD767DE-2E18-48B0-BE66-9537EA295A8B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77973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4D51660-6921-44A8-9199-0ACB423B2C25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lang="ru-RU"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ФУНКЦИОНАЛ СИСТЕМЫ </a:t>
            </a:r>
            <a:r>
              <a:rPr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/  </a:t>
            </a:r>
            <a:r>
              <a:rPr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9E7F9A7A-5AD1-4DA3-A176-385FBB6C3B6D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Выполненные работы проходят проверку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0BEBF06-911D-435A-B2D7-4B4551CE1D91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5B8317-5074-4BD2-8C49-2C2346CEDFB1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6AEE57-6EBC-4E73-9432-E5D4C0B82B5A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Фиксация факта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3AF2C6-7904-4C14-AA7C-661451EEB520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Исполнитель указывает операции, трудозатраты, материалы и результат работ.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B48236A-FC29-4FC1-A0DB-26717F52FC79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6E40A4-E13E-45A7-AACA-5E84A6B22289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Проверка мастером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59D1B74-6AEF-4593-BF2D-5892ED7C0605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Мастер сверяет выполнение, подтверждает результат или возвращает на доработку.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4E7147F-4A26-484B-BB43-768F0083CB49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5E3D00-2075-41E2-AA4C-C10CB785E61B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История техники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8374995-4ECE-4724-A47E-2DF74CE85AC6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Сохраняются принятые работы, наработка, вложения и ответственные.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B844B1E-C34F-4862-A7DC-DEF955FA6DF8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3B30BC5-5276-47B9-9D44-CACA050EA388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69175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6702B84-2829-4B22-9B7D-C1BD5E34746D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lang="ru-RU"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ФУНКЦИОНАЛ СИСТЕМЫ </a:t>
            </a:r>
            <a:r>
              <a:rPr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/  </a:t>
            </a:r>
            <a:r>
              <a:rPr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E2405D96-B98C-423C-BFB8-12586322D2DF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Состояние и надежность парка — на одном экране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EB349B1-0441-4285-9466-62FDE1F2B8AB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A8F5B5-9ED5-4B48-93CE-89875919768D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12569C2-FB72-4535-A457-6E74B44FCBBB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Состояние парка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B1BDAA-D30F-4D1C-AA44-43A623F836E8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Какая техника готова к работе, находится на ТО или в ремонте.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C831400-0225-4549-AEC4-604EFE9BDCA9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7933AAD-43F1-410B-AAE1-8A975407A2D3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Показатели надежности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20BA605-4AB4-4809-B621-C158E2CE4846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Наработка между отказами, время восстановления и причины простоев.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DB2E76F-60B7-4EAE-A3AE-A8F36A5CE74F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71F4D5F-EA8B-4458-880B-45922D685A92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Данные для решений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FDCF525-33FA-4B7E-B678-A2E4A21E6E74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Выявление проблемных машин и узлов, уточнение планов обслуживания.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7C5E4C4-4C96-4971-93BB-16D2018841A9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Следующий этап · демонстрационные показатели · методики расчета подлежат согласованию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51FF1E1-BF05-49A1-A12B-B6B2F0B4336A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574435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E3F4318-259F-45AC-8991-75E903E5BDEE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ПРЕИМУЩЕСТВА  /  06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05A0D68-877C-4FF7-99D3-B11DF6F10057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3716000" cy="1390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Управляемый процесс ремонта</a:t>
            </a:r>
          </a:p>
          <a:p>
            <a:pPr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 достоверная история техники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57CEA7E-74FC-4A5B-A878-063AC9AEABAD}"/>
              </a:ext>
            </a:extLst>
          </p:cNvPr>
          <p:cNvSpPr>
            <a:spLocks noGrp="1"/>
          </p:cNvSpPr>
          <p:nvPr/>
        </p:nvSpPr>
        <p:spPr>
          <a:xfrm>
            <a:off x="533400" y="30765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6018432-840E-4ECB-9BE7-17A755522DAB}"/>
              </a:ext>
            </a:extLst>
          </p:cNvPr>
          <p:cNvSpPr>
            <a:spLocks noGrp="1"/>
          </p:cNvSpPr>
          <p:nvPr/>
        </p:nvSpPr>
        <p:spPr>
          <a:xfrm>
            <a:off x="1409700" y="30956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Прозрачное выполнение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26B2FAD-B04C-4B0C-8DF2-75C01FE4C2E4}"/>
              </a:ext>
            </a:extLst>
          </p:cNvPr>
          <p:cNvSpPr>
            <a:spLocks noGrp="1"/>
          </p:cNvSpPr>
          <p:nvPr/>
        </p:nvSpPr>
        <p:spPr>
          <a:xfrm>
            <a:off x="1409700" y="3705225"/>
            <a:ext cx="5857875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По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каждой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заявке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видны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статус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сроки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,</a:t>
            </a:r>
          </a:p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ответственный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результат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работ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912ED00-7B16-4186-A5C8-0B40E069648E}"/>
              </a:ext>
            </a:extLst>
          </p:cNvPr>
          <p:cNvSpPr>
            <a:spLocks noGrp="1"/>
          </p:cNvSpPr>
          <p:nvPr/>
        </p:nvSpPr>
        <p:spPr>
          <a:xfrm>
            <a:off x="7886700" y="30765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814691-5BA4-493B-B0A8-05B7A1CEC3C3}"/>
              </a:ext>
            </a:extLst>
          </p:cNvPr>
          <p:cNvSpPr>
            <a:spLocks noGrp="1"/>
          </p:cNvSpPr>
          <p:nvPr/>
        </p:nvSpPr>
        <p:spPr>
          <a:xfrm>
            <a:off x="8763000" y="30956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Единые</a:t>
            </a:r>
            <a:r>
              <a:rPr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нормативы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E8DCBBA-C0FD-492E-ABCA-1ECFA327F7D2}"/>
              </a:ext>
            </a:extLst>
          </p:cNvPr>
          <p:cNvSpPr>
            <a:spLocks noGrp="1"/>
          </p:cNvSpPr>
          <p:nvPr/>
        </p:nvSpPr>
        <p:spPr>
          <a:xfrm>
            <a:off x="8763000" y="3705225"/>
            <a:ext cx="5857875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 err="1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Техкарты</a:t>
            </a:r>
            <a:r>
              <a:rPr lang="ru-RU" sz="202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на ТО и типовые </a:t>
            </a:r>
            <a:r>
              <a:rPr lang="ru-RU" sz="2025" b="0" dirty="0" err="1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ремнотные</a:t>
            </a:r>
            <a:r>
              <a:rPr lang="ru-RU" sz="202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работы</a:t>
            </a:r>
            <a:r>
              <a:rPr sz="202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задают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состав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операций</a:t>
            </a:r>
            <a:r>
              <a:rPr lang="ru-RU" sz="2025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и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основу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для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сравнения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плана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с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фактом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CE3EE8B-66E5-4764-9EEE-F41AD40A094C}"/>
              </a:ext>
            </a:extLst>
          </p:cNvPr>
          <p:cNvSpPr>
            <a:spLocks noGrp="1"/>
          </p:cNvSpPr>
          <p:nvPr/>
        </p:nvSpPr>
        <p:spPr>
          <a:xfrm>
            <a:off x="533400" y="50577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594E9A9-7592-4D39-90A9-0F6BD1C09F6B}"/>
              </a:ext>
            </a:extLst>
          </p:cNvPr>
          <p:cNvSpPr>
            <a:spLocks noGrp="1"/>
          </p:cNvSpPr>
          <p:nvPr/>
        </p:nvSpPr>
        <p:spPr>
          <a:xfrm>
            <a:off x="1409700" y="50768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 err="1" smtClean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История</a:t>
            </a:r>
            <a:r>
              <a:rPr lang="ru-RU" sz="2400" b="1" dirty="0" smtClean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оборудования 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EB27C4D-5946-49AA-9B47-AC8694772FCB}"/>
              </a:ext>
            </a:extLst>
          </p:cNvPr>
          <p:cNvSpPr>
            <a:spLocks noGrp="1"/>
          </p:cNvSpPr>
          <p:nvPr/>
        </p:nvSpPr>
        <p:spPr>
          <a:xfrm>
            <a:off x="1409700" y="5686425"/>
            <a:ext cx="5857875" cy="141659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lang="ru-RU" sz="202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Выполненные </a:t>
            </a:r>
            <a:r>
              <a:rPr lang="ru-RU" sz="2025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</a:t>
            </a:r>
            <a:r>
              <a:rPr sz="2025" b="0" dirty="0" err="1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аботы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2025" b="0" dirty="0" err="1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наработка</a:t>
            </a:r>
            <a:r>
              <a:rPr lang="ru-RU" sz="202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,установленные узлы и использованные </a:t>
            </a:r>
            <a:r>
              <a:rPr sz="2025" b="0" dirty="0" err="1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материалы</a:t>
            </a:r>
            <a:r>
              <a:rPr sz="202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собраны</a:t>
            </a:r>
            <a:r>
              <a:rPr lang="ru-RU" sz="2025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в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одном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месте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доступны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специалистам</a:t>
            </a:r>
            <a:r>
              <a:rPr sz="202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A7724A8-DA72-4ABF-92D9-9F025D3E4B63}"/>
              </a:ext>
            </a:extLst>
          </p:cNvPr>
          <p:cNvSpPr>
            <a:spLocks noGrp="1"/>
          </p:cNvSpPr>
          <p:nvPr/>
        </p:nvSpPr>
        <p:spPr>
          <a:xfrm>
            <a:off x="7886700" y="50577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163620C-CE76-4027-9284-CB54335A8635}"/>
              </a:ext>
            </a:extLst>
          </p:cNvPr>
          <p:cNvSpPr>
            <a:spLocks noGrp="1"/>
          </p:cNvSpPr>
          <p:nvPr/>
        </p:nvSpPr>
        <p:spPr>
          <a:xfrm>
            <a:off x="8763000" y="50768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ru-RU" sz="2400" b="1" dirty="0" smtClean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Масштабируемость системы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84D2538-5230-44B7-BD1A-89B77B7DBBC3}"/>
              </a:ext>
            </a:extLst>
          </p:cNvPr>
          <p:cNvSpPr>
            <a:spLocks noGrp="1"/>
          </p:cNvSpPr>
          <p:nvPr/>
        </p:nvSpPr>
        <p:spPr>
          <a:xfrm>
            <a:off x="8763000" y="5686425"/>
            <a:ext cx="5857875" cy="151763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lang="ru-RU" sz="2025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Разработка и внедрение функционала этапами. Старт – базовый функционал управления ремонтами. </a:t>
            </a:r>
            <a:r>
              <a:rPr lang="ru-RU" sz="2025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</a:t>
            </a:r>
            <a:r>
              <a:rPr lang="ru-RU" sz="2025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азвитие – адаптация функционала под бизнес процессы компании</a:t>
            </a:r>
            <a:r>
              <a:rPr sz="202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.</a:t>
            </a:r>
            <a:endParaRPr sz="2025" b="0" dirty="0">
              <a:solidFill>
                <a:srgbClr val="B8C1C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7CD339C-6A71-431A-9FCB-F064A763FA84}"/>
              </a:ext>
            </a:extLst>
          </p:cNvPr>
          <p:cNvSpPr>
            <a:spLocks noGrp="1"/>
          </p:cNvSpPr>
          <p:nvPr/>
        </p:nvSpPr>
        <p:spPr>
          <a:xfrm>
            <a:off x="533400" y="7286625"/>
            <a:ext cx="14173200" cy="9525"/>
          </a:xfrm>
          <a:prstGeom prst="rect">
            <a:avLst/>
          </a:prstGeom>
          <a:solidFill>
            <a:srgbClr val="4C555B"/>
          </a:solidFill>
          <a:ln w="0">
            <a:noFill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AFC1DBE-6AAE-42C1-9686-0551EC36AC39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275" b="0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Ожидаемые</a:t>
            </a:r>
            <a:r>
              <a:rPr sz="127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75" b="0" dirty="0" err="1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преимущества</a:t>
            </a:r>
            <a:endParaRPr sz="1275" b="0" dirty="0">
              <a:solidFill>
                <a:srgbClr val="B8C1C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7AB4F31-0F48-4AFD-8976-E0F3456C15A5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14187519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475</Words>
  <Application>Microsoft Office PowerPoint</Application>
  <DocSecurity>0</DocSecurity>
  <PresentationFormat>Произвольный</PresentationFormat>
  <Paragraphs>99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Calibri</vt:lpstr>
      <vt:lpstr>Segoe UI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Петрикин Иван Витальевич</cp:lastModifiedBy>
  <cp:revision>2</cp:revision>
  <dcterms:created xsi:type="dcterms:W3CDTF">2026-09-09T07:06:10Z</dcterms:created>
  <dcterms:modified xsi:type="dcterms:W3CDTF">2026-09-09T07:20:03Z</dcterms:modified>
</cp:coreProperties>
</file>