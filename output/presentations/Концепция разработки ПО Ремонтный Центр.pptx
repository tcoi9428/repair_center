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3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A3D23F6-3554-48D6-8D8C-12C1FD9CA0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8572500"/>
          </a:xfrm>
          <a:prstGeom prst="rect">
            <a:avLst/>
          </a:prstGeom>
          <a:solidFill>
            <a:srgbClr val="1C1E20"/>
          </a:solidFill>
          <a:ln w="0">
            <a:noFill/>
          </a:ln>
        </p:spPr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400" y="532981"/>
            <a:ext cx="4714875" cy="724739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64B61FEA-E160-4419-A5C6-ADFB7CF72828}"/>
              </a:ext>
            </a:extLst>
          </p:cNvPr>
          <p:cNvSpPr>
            <a:spLocks noGrp="1"/>
          </p:cNvSpPr>
          <p:nvPr/>
        </p:nvSpPr>
        <p:spPr>
          <a:xfrm>
            <a:off x="533400" y="2209800"/>
            <a:ext cx="4905375" cy="2190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4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Система</a:t>
            </a:r>
          </a:p>
          <a:p>
            <a:pPr>
              <a:defRPr sz="4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управления</a:t>
            </a:r>
          </a:p>
          <a:p>
            <a:pPr>
              <a:defRPr sz="45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5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ремонтами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407514D-2A40-428B-B225-E994681E4029}"/>
              </a:ext>
            </a:extLst>
          </p:cNvPr>
          <p:cNvSpPr>
            <a:spLocks noGrp="1"/>
          </p:cNvSpPr>
          <p:nvPr/>
        </p:nvSpPr>
        <p:spPr>
          <a:xfrm>
            <a:off x="533400" y="4943475"/>
            <a:ext cx="4743450" cy="1381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2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Единое рабочее место</a:t>
            </a:r>
          </a:p>
          <a:p>
            <a:pPr>
              <a:defRPr sz="22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для планирования, выполнения</a:t>
            </a:r>
          </a:p>
          <a:p>
            <a:pPr>
              <a:defRPr sz="225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25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и контроля ТОиР.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41D17DE-22D7-42E7-B9D1-973821F5AD63}"/>
              </a:ext>
            </a:extLst>
          </p:cNvPr>
          <p:cNvSpPr>
            <a:spLocks noGrp="1"/>
          </p:cNvSpPr>
          <p:nvPr/>
        </p:nvSpPr>
        <p:spPr>
          <a:xfrm>
            <a:off x="6429375" y="371475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350" b="1" dirty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КОНЦЕПЦИЯ  /  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8C4B324-08FD-4B71-871A-7A75C72B22EE}"/>
              </a:ext>
            </a:extLst>
          </p:cNvPr>
          <p:cNvSpPr>
            <a:spLocks noGrp="1"/>
          </p:cNvSpPr>
          <p:nvPr/>
        </p:nvSpPr>
        <p:spPr>
          <a:xfrm>
            <a:off x="6429375" y="876300"/>
            <a:ext cx="8096250" cy="1104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1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3150" b="1" dirty="0" err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От</a:t>
            </a:r>
            <a:r>
              <a:rPr sz="3150" b="1" dirty="0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150" b="1" dirty="0" err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карточки</a:t>
            </a:r>
            <a:r>
              <a:rPr sz="3150" b="1" dirty="0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3150" b="1" dirty="0" err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техники</a:t>
            </a:r>
            <a:endParaRPr sz="3150" b="1" dirty="0">
              <a:solidFill>
                <a:srgbClr val="1C1E20"/>
              </a:solidFill>
              <a:latin typeface="Segoe UI"/>
              <a:ea typeface="Segoe UI"/>
              <a:cs typeface="Segoe UI"/>
            </a:endParaRPr>
          </a:p>
          <a:p>
            <a:pPr>
              <a:defRPr sz="31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3150" b="1" dirty="0" err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до</a:t>
            </a:r>
            <a:r>
              <a:rPr sz="3150" b="1" dirty="0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ru-RU" sz="3150" b="1" dirty="0" smtClean="0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истории эксплуатации</a:t>
            </a:r>
            <a:endParaRPr sz="3150" b="1" dirty="0">
              <a:solidFill>
                <a:srgbClr val="1C1E20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2C7C7A8-D873-4A83-902D-8BCE6BC5581F}"/>
              </a:ext>
            </a:extLst>
          </p:cNvPr>
          <p:cNvSpPr>
            <a:spLocks noGrp="1"/>
          </p:cNvSpPr>
          <p:nvPr/>
        </p:nvSpPr>
        <p:spPr>
          <a:xfrm>
            <a:off x="6343650" y="2171700"/>
            <a:ext cx="8645437" cy="809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lang="ru-RU" sz="2025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Регламентное техническое </a:t>
            </a:r>
            <a:r>
              <a:rPr lang="ru-RU" sz="2025" dirty="0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обслуживание: </a:t>
            </a:r>
            <a:r>
              <a:rPr lang="ru-RU" sz="2025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ТО-250, ТО-500 и т.д.</a:t>
            </a:r>
          </a:p>
          <a:p>
            <a:pPr>
              <a:defRPr sz="20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lang="ru-RU" sz="2025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Учет всех плановых и аварийных </a:t>
            </a:r>
            <a:r>
              <a:rPr lang="ru-RU" sz="2025" dirty="0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ремонтов. Аналитика и надежность.</a:t>
            </a:r>
            <a:endParaRPr lang="ru-RU" sz="2025" dirty="0">
              <a:solidFill>
                <a:srgbClr val="59636C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A69F342-8960-4E08-AD40-DCB0A26CDDD2}"/>
              </a:ext>
            </a:extLst>
          </p:cNvPr>
          <p:cNvSpPr>
            <a:spLocks noGrp="1"/>
          </p:cNvSpPr>
          <p:nvPr/>
        </p:nvSpPr>
        <p:spPr>
          <a:xfrm>
            <a:off x="6429375" y="32575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B1BFC0B-C938-4A4B-B82C-D60568AEBE93}"/>
              </a:ext>
            </a:extLst>
          </p:cNvPr>
          <p:cNvSpPr>
            <a:spLocks noGrp="1"/>
          </p:cNvSpPr>
          <p:nvPr/>
        </p:nvSpPr>
        <p:spPr>
          <a:xfrm>
            <a:off x="7191375" y="3257550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Оборудование и нормативы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7E39A61-487B-41AF-BBE2-27EB6ECC3E78}"/>
              </a:ext>
            </a:extLst>
          </p:cNvPr>
          <p:cNvSpPr>
            <a:spLocks noGrp="1"/>
          </p:cNvSpPr>
          <p:nvPr/>
        </p:nvSpPr>
        <p:spPr>
          <a:xfrm>
            <a:off x="7191375" y="363855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Карточки машин, наработка, регламенты, техкарты.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602329D-832F-445B-B6E3-DFC6DDF22668}"/>
              </a:ext>
            </a:extLst>
          </p:cNvPr>
          <p:cNvSpPr>
            <a:spLocks noGrp="1"/>
          </p:cNvSpPr>
          <p:nvPr/>
        </p:nvSpPr>
        <p:spPr>
          <a:xfrm>
            <a:off x="6429375" y="414337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0C70840-4575-4068-867F-BBB8FBFC8012}"/>
              </a:ext>
            </a:extLst>
          </p:cNvPr>
          <p:cNvSpPr>
            <a:spLocks noGrp="1"/>
          </p:cNvSpPr>
          <p:nvPr/>
        </p:nvSpPr>
        <p:spPr>
          <a:xfrm>
            <a:off x="7191375" y="4143375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Заявка и планирование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AFD3989-CA00-4412-803B-2625E6B9A9A3}"/>
              </a:ext>
            </a:extLst>
          </p:cNvPr>
          <p:cNvSpPr>
            <a:spLocks noGrp="1"/>
          </p:cNvSpPr>
          <p:nvPr/>
        </p:nvSpPr>
        <p:spPr>
          <a:xfrm>
            <a:off x="7191375" y="4524375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Потребность заказчика, сроки и приоритет работ.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F26F225-C0DF-42CD-8205-809779CF1434}"/>
              </a:ext>
            </a:extLst>
          </p:cNvPr>
          <p:cNvSpPr>
            <a:spLocks noGrp="1"/>
          </p:cNvSpPr>
          <p:nvPr/>
        </p:nvSpPr>
        <p:spPr>
          <a:xfrm>
            <a:off x="6429375" y="50292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D567510-83F1-4EF2-AFE5-9FC23B4DA329}"/>
              </a:ext>
            </a:extLst>
          </p:cNvPr>
          <p:cNvSpPr>
            <a:spLocks noGrp="1"/>
          </p:cNvSpPr>
          <p:nvPr/>
        </p:nvSpPr>
        <p:spPr>
          <a:xfrm>
            <a:off x="7191375" y="5029200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Наряд-заказ и выполнение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032E823-426E-4F76-92A5-1D367F9B86EE}"/>
              </a:ext>
            </a:extLst>
          </p:cNvPr>
          <p:cNvSpPr>
            <a:spLocks noGrp="1"/>
          </p:cNvSpPr>
          <p:nvPr/>
        </p:nvSpPr>
        <p:spPr>
          <a:xfrm>
            <a:off x="7191375" y="541020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Операции, ответственные, бригада и ресурсы.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72BE2D6-EC6B-4B2B-8B56-96154CB3B660}"/>
              </a:ext>
            </a:extLst>
          </p:cNvPr>
          <p:cNvSpPr>
            <a:spLocks noGrp="1"/>
          </p:cNvSpPr>
          <p:nvPr/>
        </p:nvSpPr>
        <p:spPr>
          <a:xfrm>
            <a:off x="6429375" y="5915025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0B83679-5F01-47C7-ADAA-2033C5E36708}"/>
              </a:ext>
            </a:extLst>
          </p:cNvPr>
          <p:cNvSpPr>
            <a:spLocks noGrp="1"/>
          </p:cNvSpPr>
          <p:nvPr/>
        </p:nvSpPr>
        <p:spPr>
          <a:xfrm>
            <a:off x="7191375" y="5915025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Подтверждение результата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5638BAC-2812-4B3B-8D74-F5871C47E29C}"/>
              </a:ext>
            </a:extLst>
          </p:cNvPr>
          <p:cNvSpPr>
            <a:spLocks noGrp="1"/>
          </p:cNvSpPr>
          <p:nvPr/>
        </p:nvSpPr>
        <p:spPr>
          <a:xfrm>
            <a:off x="7191375" y="6296025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Факт работ, материалы, проверка и история машины.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6FAD4FD-7535-4779-A9B7-55B9ECA8EFEC}"/>
              </a:ext>
            </a:extLst>
          </p:cNvPr>
          <p:cNvSpPr>
            <a:spLocks noGrp="1"/>
          </p:cNvSpPr>
          <p:nvPr/>
        </p:nvSpPr>
        <p:spPr>
          <a:xfrm>
            <a:off x="6429375" y="680085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7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84649A5-547C-4BAC-B460-0517B0995AB6}"/>
              </a:ext>
            </a:extLst>
          </p:cNvPr>
          <p:cNvSpPr>
            <a:spLocks noGrp="1"/>
          </p:cNvSpPr>
          <p:nvPr/>
        </p:nvSpPr>
        <p:spPr>
          <a:xfrm>
            <a:off x="7191375" y="6800850"/>
            <a:ext cx="74295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 dirty="0" err="1" smtClean="0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Аналитика</a:t>
            </a:r>
            <a:r>
              <a:rPr lang="ru-RU" sz="2100" b="1" dirty="0" smtClean="0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 и надежность оборудования</a:t>
            </a:r>
            <a:endParaRPr sz="2100" b="1" dirty="0">
              <a:solidFill>
                <a:srgbClr val="1C1E20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A2652AA-81FA-4ED0-A84B-891FDF3A52F4}"/>
              </a:ext>
            </a:extLst>
          </p:cNvPr>
          <p:cNvSpPr>
            <a:spLocks noGrp="1"/>
          </p:cNvSpPr>
          <p:nvPr/>
        </p:nvSpPr>
        <p:spPr>
          <a:xfrm>
            <a:off x="7191375" y="7181850"/>
            <a:ext cx="7429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Техническое состояние, отказы и простои.</a:t>
            </a:r>
          </a:p>
        </p:txBody>
      </p:sp>
    </p:spTree>
    <p:extLst>
      <p:ext uri="{BB962C8B-B14F-4D97-AF65-F5344CB8AC3E}">
        <p14:creationId xmlns:p14="http://schemas.microsoft.com/office/powerpoint/2010/main" val="90863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99602F2-54B3-4AC4-BF72-4819619FA41A}"/>
              </a:ext>
            </a:extLst>
          </p:cNvPr>
          <p:cNvSpPr>
            <a:spLocks noGrp="1"/>
          </p:cNvSpPr>
          <p:nvPr/>
        </p:nvSpPr>
        <p:spPr>
          <a:xfrm>
            <a:off x="533400" y="257175"/>
            <a:ext cx="9715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lang="ru-RU" sz="1350" b="1" dirty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ФУНКЦИОНАЛ СИСТЕМЫ </a:t>
            </a:r>
            <a:r>
              <a:rPr sz="1350" b="1" dirty="0" smtClean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/  </a:t>
            </a:r>
            <a:r>
              <a:rPr sz="1350" b="1" dirty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2" name="Slide title">
            <a:extLst>
              <a:ext uri="{FF2B5EF4-FFF2-40B4-BE49-F238E27FC236}">
                <a16:creationId xmlns:a16="http://schemas.microsoft.com/office/drawing/2014/main" id="{32043764-891C-4A8B-8793-0509E1025C8B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38112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4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Единая база техники и нормативов</a:t>
            </a: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72850" y="224792"/>
            <a:ext cx="3333750" cy="512442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8B0F7B2-448E-48A6-888F-DDB54A8EC7E5}"/>
              </a:ext>
            </a:extLst>
          </p:cNvPr>
          <p:cNvSpPr>
            <a:spLocks noGrp="1"/>
          </p:cNvSpPr>
          <p:nvPr/>
        </p:nvSpPr>
        <p:spPr>
          <a:xfrm>
            <a:off x="523875" y="1466850"/>
            <a:ext cx="9734550" cy="6496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8"/>
            </a:solidFill>
          </a:ln>
        </p:spPr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3400" y="1476375"/>
            <a:ext cx="9715500" cy="6477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6BD6B2D-5DD8-43D0-9107-2113FAFCE111}"/>
              </a:ext>
            </a:extLst>
          </p:cNvPr>
          <p:cNvSpPr>
            <a:spLocks noGrp="1"/>
          </p:cNvSpPr>
          <p:nvPr/>
        </p:nvSpPr>
        <p:spPr>
          <a:xfrm>
            <a:off x="11049000" y="1752600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60F63FD-3932-4A29-848B-DDD569F9B5E1}"/>
              </a:ext>
            </a:extLst>
          </p:cNvPr>
          <p:cNvSpPr>
            <a:spLocks noGrp="1"/>
          </p:cNvSpPr>
          <p:nvPr/>
        </p:nvSpPr>
        <p:spPr>
          <a:xfrm>
            <a:off x="11049000" y="2152650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Карточка оборудования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7096841-9816-456D-A347-8BCA4E042076}"/>
              </a:ext>
            </a:extLst>
          </p:cNvPr>
          <p:cNvSpPr>
            <a:spLocks noGrp="1"/>
          </p:cNvSpPr>
          <p:nvPr/>
        </p:nvSpPr>
        <p:spPr>
          <a:xfrm>
            <a:off x="11049000" y="2857500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Тип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ru-RU" sz="1800" b="0" dirty="0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оборудования</a:t>
            </a:r>
            <a:r>
              <a:rPr sz="1800" b="0" dirty="0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серийный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номер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заказчик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участок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и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текущая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наработка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E146535-F56B-414E-A7FD-3297840C285A}"/>
              </a:ext>
            </a:extLst>
          </p:cNvPr>
          <p:cNvSpPr>
            <a:spLocks noGrp="1"/>
          </p:cNvSpPr>
          <p:nvPr/>
        </p:nvSpPr>
        <p:spPr>
          <a:xfrm>
            <a:off x="11049000" y="3838575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31635A1-F4B6-4CCC-BA0A-A0424935C6BD}"/>
              </a:ext>
            </a:extLst>
          </p:cNvPr>
          <p:cNvSpPr>
            <a:spLocks noGrp="1"/>
          </p:cNvSpPr>
          <p:nvPr/>
        </p:nvSpPr>
        <p:spPr>
          <a:xfrm>
            <a:off x="11049000" y="4238625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Технологическая карта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0F1EE1E-ECEE-43C6-B998-E1DA492B34C3}"/>
              </a:ext>
            </a:extLst>
          </p:cNvPr>
          <p:cNvSpPr>
            <a:spLocks noGrp="1"/>
          </p:cNvSpPr>
          <p:nvPr/>
        </p:nvSpPr>
        <p:spPr>
          <a:xfrm>
            <a:off x="11049000" y="4943475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Периодичность ТО, операции, нормы времени и специальности.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661CDB8-2C27-4A84-B042-57FB019B533A}"/>
              </a:ext>
            </a:extLst>
          </p:cNvPr>
          <p:cNvSpPr>
            <a:spLocks noGrp="1"/>
          </p:cNvSpPr>
          <p:nvPr/>
        </p:nvSpPr>
        <p:spPr>
          <a:xfrm>
            <a:off x="11049000" y="5924550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FE2076F5-639F-4143-9D5E-426E8811EA85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Основа планирования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1E60B3B-9449-4125-BEE3-F307C37ECDB3}"/>
              </a:ext>
            </a:extLst>
          </p:cNvPr>
          <p:cNvSpPr>
            <a:spLocks noGrp="1"/>
          </p:cNvSpPr>
          <p:nvPr/>
        </p:nvSpPr>
        <p:spPr>
          <a:xfrm>
            <a:off x="11049000" y="7029450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Техкарта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связана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с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техникой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и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используется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при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подготовке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наряда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D1F9E93-841A-43D4-9F82-6C89AA11EF28}"/>
              </a:ext>
            </a:extLst>
          </p:cNvPr>
          <p:cNvSpPr>
            <a:spLocks noGrp="1"/>
          </p:cNvSpPr>
          <p:nvPr/>
        </p:nvSpPr>
        <p:spPr>
          <a:xfrm>
            <a:off x="533400" y="8134350"/>
            <a:ext cx="131921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Концепция интерфейса · демонстрационные данные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672BDE1-2ECF-41C5-A4A6-3D8D22E408DD}"/>
              </a:ext>
            </a:extLst>
          </p:cNvPr>
          <p:cNvSpPr>
            <a:spLocks noGrp="1"/>
          </p:cNvSpPr>
          <p:nvPr/>
        </p:nvSpPr>
        <p:spPr>
          <a:xfrm>
            <a:off x="13954125" y="8134350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02 / 07</a:t>
            </a:r>
          </a:p>
        </p:txBody>
      </p:sp>
    </p:spTree>
    <p:extLst>
      <p:ext uri="{BB962C8B-B14F-4D97-AF65-F5344CB8AC3E}">
        <p14:creationId xmlns:p14="http://schemas.microsoft.com/office/powerpoint/2010/main" val="124362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5D3B1E3-D9C5-4AA5-99C1-351BA207697B}"/>
              </a:ext>
            </a:extLst>
          </p:cNvPr>
          <p:cNvSpPr>
            <a:spLocks noGrp="1"/>
          </p:cNvSpPr>
          <p:nvPr/>
        </p:nvSpPr>
        <p:spPr>
          <a:xfrm>
            <a:off x="533400" y="257175"/>
            <a:ext cx="9715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lang="ru-RU" sz="1350" b="1" dirty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ФУНКЦИОНАЛ СИСТЕМЫ </a:t>
            </a:r>
            <a:r>
              <a:rPr sz="1350" b="1" dirty="0" smtClean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/  </a:t>
            </a:r>
            <a:r>
              <a:rPr sz="1350" b="1" dirty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" name="Slide title">
            <a:extLst>
              <a:ext uri="{FF2B5EF4-FFF2-40B4-BE49-F238E27FC236}">
                <a16:creationId xmlns:a16="http://schemas.microsoft.com/office/drawing/2014/main" id="{0EEE7B3A-DD48-4E64-89F1-24E7FA4FDCBF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38112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4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От обращения заказчика к заданию бригаде</a:t>
            </a: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72850" y="224792"/>
            <a:ext cx="3333750" cy="512442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1DFAAE6-718C-4090-94F6-108A32FAF525}"/>
              </a:ext>
            </a:extLst>
          </p:cNvPr>
          <p:cNvSpPr>
            <a:spLocks noGrp="1"/>
          </p:cNvSpPr>
          <p:nvPr/>
        </p:nvSpPr>
        <p:spPr>
          <a:xfrm>
            <a:off x="523875" y="1466850"/>
            <a:ext cx="9734550" cy="6496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8"/>
            </a:solidFill>
          </a:ln>
        </p:spPr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3400" y="1476375"/>
            <a:ext cx="9715500" cy="6477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22794A1-2591-475A-BFC6-5C6E361D45AC}"/>
              </a:ext>
            </a:extLst>
          </p:cNvPr>
          <p:cNvSpPr>
            <a:spLocks noGrp="1"/>
          </p:cNvSpPr>
          <p:nvPr/>
        </p:nvSpPr>
        <p:spPr>
          <a:xfrm>
            <a:off x="11049000" y="1752600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B2E9F68-24BE-4C60-ADBE-35CFED062733}"/>
              </a:ext>
            </a:extLst>
          </p:cNvPr>
          <p:cNvSpPr>
            <a:spLocks noGrp="1"/>
          </p:cNvSpPr>
          <p:nvPr/>
        </p:nvSpPr>
        <p:spPr>
          <a:xfrm>
            <a:off x="11049000" y="2152650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Входящая заявка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CB6843D-6289-45FC-A2F2-A8E048FA7349}"/>
              </a:ext>
            </a:extLst>
          </p:cNvPr>
          <p:cNvSpPr>
            <a:spLocks noGrp="1"/>
          </p:cNvSpPr>
          <p:nvPr/>
        </p:nvSpPr>
        <p:spPr>
          <a:xfrm>
            <a:off x="11039475" y="2628900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Сотрудник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регистрирует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обращение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: </a:t>
            </a:r>
            <a:r>
              <a:rPr lang="ru-RU" sz="1800" b="0" dirty="0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оборудование</a:t>
            </a:r>
            <a:r>
              <a:rPr sz="1800" b="0" dirty="0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причина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вид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работ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и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нужная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дата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6E10D6B-98BC-47ED-929E-25BF55F2425B}"/>
              </a:ext>
            </a:extLst>
          </p:cNvPr>
          <p:cNvSpPr>
            <a:spLocks noGrp="1"/>
          </p:cNvSpPr>
          <p:nvPr/>
        </p:nvSpPr>
        <p:spPr>
          <a:xfrm>
            <a:off x="11049000" y="3838575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C095D74-8C2A-455B-BF9C-638DB8A50247}"/>
              </a:ext>
            </a:extLst>
          </p:cNvPr>
          <p:cNvSpPr>
            <a:spLocks noGrp="1"/>
          </p:cNvSpPr>
          <p:nvPr/>
        </p:nvSpPr>
        <p:spPr>
          <a:xfrm>
            <a:off x="11049000" y="4238625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Внутренний наряд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AE5C121-6489-4A25-A103-5FA0A49B6E8A}"/>
              </a:ext>
            </a:extLst>
          </p:cNvPr>
          <p:cNvSpPr>
            <a:spLocks noGrp="1"/>
          </p:cNvSpPr>
          <p:nvPr/>
        </p:nvSpPr>
        <p:spPr>
          <a:xfrm>
            <a:off x="11049000" y="4943475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Мастер задает состав работ, назначает бригаду и планирует сроки.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3CE2B45-5A2D-4599-A9BD-CC5A6A1FA4D2}"/>
              </a:ext>
            </a:extLst>
          </p:cNvPr>
          <p:cNvSpPr>
            <a:spLocks noGrp="1"/>
          </p:cNvSpPr>
          <p:nvPr/>
        </p:nvSpPr>
        <p:spPr>
          <a:xfrm>
            <a:off x="11049000" y="5924550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102F419-3FBF-4349-8AE3-44203C279536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Связь документов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A96E86E-B1CF-42C1-A9FA-0E615B2F1F4C}"/>
              </a:ext>
            </a:extLst>
          </p:cNvPr>
          <p:cNvSpPr>
            <a:spLocks noGrp="1"/>
          </p:cNvSpPr>
          <p:nvPr/>
        </p:nvSpPr>
        <p:spPr>
          <a:xfrm>
            <a:off x="11049000" y="7029450"/>
            <a:ext cx="4056282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Наряд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сохраняет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основание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—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заявку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.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Операции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берутся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из</a:t>
            </a:r>
            <a:r>
              <a:rPr sz="180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0" dirty="0" err="1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техкарты</a:t>
            </a:r>
            <a:r>
              <a:rPr lang="ru-RU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ru-RU" dirty="0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или заполняются вручную.</a:t>
            </a:r>
            <a:endParaRPr sz="1800" b="0" dirty="0">
              <a:solidFill>
                <a:srgbClr val="59636C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6A20939-1290-4F02-A323-3C661FCEAE1E}"/>
              </a:ext>
            </a:extLst>
          </p:cNvPr>
          <p:cNvSpPr>
            <a:spLocks noGrp="1"/>
          </p:cNvSpPr>
          <p:nvPr/>
        </p:nvSpPr>
        <p:spPr>
          <a:xfrm>
            <a:off x="533400" y="8134350"/>
            <a:ext cx="131921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Концепция интерфейса · демонстрационные данные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3614364-3AE4-4600-96D2-79E6DD0E8419}"/>
              </a:ext>
            </a:extLst>
          </p:cNvPr>
          <p:cNvSpPr>
            <a:spLocks noGrp="1"/>
          </p:cNvSpPr>
          <p:nvPr/>
        </p:nvSpPr>
        <p:spPr>
          <a:xfrm>
            <a:off x="13954125" y="8134350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03 / 07</a:t>
            </a:r>
          </a:p>
        </p:txBody>
      </p:sp>
    </p:spTree>
    <p:extLst>
      <p:ext uri="{BB962C8B-B14F-4D97-AF65-F5344CB8AC3E}">
        <p14:creationId xmlns:p14="http://schemas.microsoft.com/office/powerpoint/2010/main" val="289587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4EEC90C-C34C-4D9A-95BA-429D2D8BDD67}"/>
              </a:ext>
            </a:extLst>
          </p:cNvPr>
          <p:cNvSpPr>
            <a:spLocks noGrp="1"/>
          </p:cNvSpPr>
          <p:nvPr/>
        </p:nvSpPr>
        <p:spPr>
          <a:xfrm>
            <a:off x="533400" y="257175"/>
            <a:ext cx="9715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lang="ru-RU" sz="1350" b="1" dirty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ФУНКЦИОНАЛ СИСТЕМЫ </a:t>
            </a:r>
            <a:r>
              <a:rPr sz="1350" b="1" dirty="0" smtClean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/  </a:t>
            </a:r>
            <a:r>
              <a:rPr sz="1350" b="1" dirty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" name="Slide title">
            <a:extLst>
              <a:ext uri="{FF2B5EF4-FFF2-40B4-BE49-F238E27FC236}">
                <a16:creationId xmlns:a16="http://schemas.microsoft.com/office/drawing/2014/main" id="{958DE99C-9877-46B3-916A-DD207EC96E39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38112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4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Выполненные работы проходят проверку</a:t>
            </a:r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72850" y="224792"/>
            <a:ext cx="3333750" cy="512442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E1F5706-2E0C-425C-A2F4-0353A547A7CF}"/>
              </a:ext>
            </a:extLst>
          </p:cNvPr>
          <p:cNvSpPr>
            <a:spLocks noGrp="1"/>
          </p:cNvSpPr>
          <p:nvPr/>
        </p:nvSpPr>
        <p:spPr>
          <a:xfrm>
            <a:off x="523875" y="1466850"/>
            <a:ext cx="9734550" cy="6496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8"/>
            </a:solidFill>
          </a:ln>
        </p:spPr>
      </p:sp>
      <p:pic>
        <p:nvPicPr>
          <p:cNvPr id="22" name="Рисунок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3400" y="1476375"/>
            <a:ext cx="9715500" cy="6477000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15796" y="2507382"/>
            <a:ext cx="1296665" cy="1296665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436090E-236E-4FFD-B98C-C185DFFA2B3F}"/>
              </a:ext>
            </a:extLst>
          </p:cNvPr>
          <p:cNvSpPr>
            <a:spLocks noGrp="1"/>
          </p:cNvSpPr>
          <p:nvPr/>
        </p:nvSpPr>
        <p:spPr>
          <a:xfrm>
            <a:off x="11049000" y="1752600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A527BD6-0E1E-462F-9E72-D241F527D046}"/>
              </a:ext>
            </a:extLst>
          </p:cNvPr>
          <p:cNvSpPr>
            <a:spLocks noGrp="1"/>
          </p:cNvSpPr>
          <p:nvPr/>
        </p:nvSpPr>
        <p:spPr>
          <a:xfrm>
            <a:off x="11049000" y="2152650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Время каждого сотрудника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AC81498-7A06-4F5F-8942-F00AA3EB7E60}"/>
              </a:ext>
            </a:extLst>
          </p:cNvPr>
          <p:cNvSpPr>
            <a:spLocks noGrp="1"/>
          </p:cNvSpPr>
          <p:nvPr/>
        </p:nvSpPr>
        <p:spPr>
          <a:xfrm>
            <a:off x="11049000" y="2857500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Начало и окончание работ, фактические часы каждого члена бригады и общий итог.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F354FDF-35B3-4B22-8743-E7B1E5018A33}"/>
              </a:ext>
            </a:extLst>
          </p:cNvPr>
          <p:cNvSpPr>
            <a:spLocks noGrp="1"/>
          </p:cNvSpPr>
          <p:nvPr/>
        </p:nvSpPr>
        <p:spPr>
          <a:xfrm>
            <a:off x="11049000" y="3838575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F86EBEF-FBFA-4B12-8C0E-18B458D5640E}"/>
              </a:ext>
            </a:extLst>
          </p:cNvPr>
          <p:cNvSpPr>
            <a:spLocks noGrp="1"/>
          </p:cNvSpPr>
          <p:nvPr/>
        </p:nvSpPr>
        <p:spPr>
          <a:xfrm>
            <a:off x="11049000" y="4238625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QR-код наряда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D5CC8FF-0047-411B-ADFE-3DC39156AFFD}"/>
              </a:ext>
            </a:extLst>
          </p:cNvPr>
          <p:cNvSpPr>
            <a:spLocks noGrp="1"/>
          </p:cNvSpPr>
          <p:nvPr/>
        </p:nvSpPr>
        <p:spPr>
          <a:xfrm>
            <a:off x="11049000" y="4943475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Уникальный идентификатор связывает бумажный бланк и электронный наряд-заказ.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349924D-EC39-4651-80D0-7A5F215A7742}"/>
              </a:ext>
            </a:extLst>
          </p:cNvPr>
          <p:cNvSpPr>
            <a:spLocks noGrp="1"/>
          </p:cNvSpPr>
          <p:nvPr/>
        </p:nvSpPr>
        <p:spPr>
          <a:xfrm>
            <a:off x="11049000" y="5924550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F262EF0-36E6-489E-874D-CBDC9CA11D56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Подписанный акт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001F33B-9EC5-42AA-937B-A5C28EA914AC}"/>
              </a:ext>
            </a:extLst>
          </p:cNvPr>
          <p:cNvSpPr>
            <a:spLocks noGrp="1"/>
          </p:cNvSpPr>
          <p:nvPr/>
        </p:nvSpPr>
        <p:spPr>
          <a:xfrm>
            <a:off x="11049000" y="7029450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К наряду прикрепляется скан или фото подписанного акта выполненных работ.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4AA45A4-EF35-440B-9A76-81A305138933}"/>
              </a:ext>
            </a:extLst>
          </p:cNvPr>
          <p:cNvSpPr>
            <a:spLocks noGrp="1"/>
          </p:cNvSpPr>
          <p:nvPr/>
        </p:nvSpPr>
        <p:spPr>
          <a:xfrm>
            <a:off x="533400" y="8134350"/>
            <a:ext cx="131921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Концепция интерфейса · демонстрационные данные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43237AD-AE7C-4F49-9FF0-47E0365705F8}"/>
              </a:ext>
            </a:extLst>
          </p:cNvPr>
          <p:cNvSpPr>
            <a:spLocks noGrp="1"/>
          </p:cNvSpPr>
          <p:nvPr/>
        </p:nvSpPr>
        <p:spPr>
          <a:xfrm>
            <a:off x="13954125" y="8134350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04 / 07</a:t>
            </a:r>
          </a:p>
        </p:txBody>
      </p:sp>
    </p:spTree>
    <p:extLst>
      <p:ext uri="{BB962C8B-B14F-4D97-AF65-F5344CB8AC3E}">
        <p14:creationId xmlns:p14="http://schemas.microsoft.com/office/powerpoint/2010/main" val="101917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097B435-B3AF-4501-9C81-6FE03B2C07B6}"/>
              </a:ext>
            </a:extLst>
          </p:cNvPr>
          <p:cNvSpPr>
            <a:spLocks noGrp="1"/>
          </p:cNvSpPr>
          <p:nvPr/>
        </p:nvSpPr>
        <p:spPr>
          <a:xfrm>
            <a:off x="533400" y="257175"/>
            <a:ext cx="9715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lang="ru-RU" sz="1350" b="1" dirty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ФУНКЦИОНАЛ СИСТЕМЫ </a:t>
            </a:r>
            <a:r>
              <a:rPr sz="1350" b="1" dirty="0" smtClean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/  </a:t>
            </a:r>
            <a:r>
              <a:rPr sz="1350" b="1" dirty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" name="Slide title">
            <a:extLst>
              <a:ext uri="{FF2B5EF4-FFF2-40B4-BE49-F238E27FC236}">
                <a16:creationId xmlns:a16="http://schemas.microsoft.com/office/drawing/2014/main" id="{9C6DE463-FE66-46CF-B561-C2ED58430502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3811250" cy="657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4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Состояние и надежность парка — на одном экране</a:t>
            </a: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72850" y="224792"/>
            <a:ext cx="3333750" cy="512442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123EC47-F678-43FC-97AC-F47E1BAD5878}"/>
              </a:ext>
            </a:extLst>
          </p:cNvPr>
          <p:cNvSpPr>
            <a:spLocks noGrp="1"/>
          </p:cNvSpPr>
          <p:nvPr/>
        </p:nvSpPr>
        <p:spPr>
          <a:xfrm>
            <a:off x="523875" y="1466850"/>
            <a:ext cx="9734550" cy="6496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8"/>
            </a:solidFill>
          </a:ln>
        </p:spPr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33400" y="1476375"/>
            <a:ext cx="9715500" cy="647700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C7BE083-E8E2-457C-93A3-4D2BBCB51F04}"/>
              </a:ext>
            </a:extLst>
          </p:cNvPr>
          <p:cNvSpPr>
            <a:spLocks noGrp="1"/>
          </p:cNvSpPr>
          <p:nvPr/>
        </p:nvSpPr>
        <p:spPr>
          <a:xfrm>
            <a:off x="11049000" y="1752600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C6EF2C6-32B6-48AC-B689-4A227CCC258E}"/>
              </a:ext>
            </a:extLst>
          </p:cNvPr>
          <p:cNvSpPr>
            <a:spLocks noGrp="1"/>
          </p:cNvSpPr>
          <p:nvPr/>
        </p:nvSpPr>
        <p:spPr>
          <a:xfrm>
            <a:off x="11049000" y="2152650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Состояние парка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98ADA50-48DE-4892-A497-081AC560EC99}"/>
              </a:ext>
            </a:extLst>
          </p:cNvPr>
          <p:cNvSpPr>
            <a:spLocks noGrp="1"/>
          </p:cNvSpPr>
          <p:nvPr/>
        </p:nvSpPr>
        <p:spPr>
          <a:xfrm>
            <a:off x="11049000" y="2857500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Какая техника готова к работе, находится на ТО или в ремонте.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88165EB-EFFE-4D25-BBFC-9963E304E7C2}"/>
              </a:ext>
            </a:extLst>
          </p:cNvPr>
          <p:cNvSpPr>
            <a:spLocks noGrp="1"/>
          </p:cNvSpPr>
          <p:nvPr/>
        </p:nvSpPr>
        <p:spPr>
          <a:xfrm>
            <a:off x="11049000" y="3838575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8BD95D4-BF48-4210-A584-D736AFA55D08}"/>
              </a:ext>
            </a:extLst>
          </p:cNvPr>
          <p:cNvSpPr>
            <a:spLocks noGrp="1"/>
          </p:cNvSpPr>
          <p:nvPr/>
        </p:nvSpPr>
        <p:spPr>
          <a:xfrm>
            <a:off x="11049000" y="4238625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Показатели надежности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F22ABFE-0AE9-44C6-BA75-15258D31DF24}"/>
              </a:ext>
            </a:extLst>
          </p:cNvPr>
          <p:cNvSpPr>
            <a:spLocks noGrp="1"/>
          </p:cNvSpPr>
          <p:nvPr/>
        </p:nvSpPr>
        <p:spPr>
          <a:xfrm>
            <a:off x="11049000" y="4943475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Наработка между отказами, время восстановления и причины простоев.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E11CCAB-7EB1-4AC7-8796-B888E6FA21EF}"/>
              </a:ext>
            </a:extLst>
          </p:cNvPr>
          <p:cNvSpPr>
            <a:spLocks noGrp="1"/>
          </p:cNvSpPr>
          <p:nvPr/>
        </p:nvSpPr>
        <p:spPr>
          <a:xfrm>
            <a:off x="11049000" y="5924550"/>
            <a:ext cx="59055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725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F07A56C-DF37-4F51-A6DA-6C7D2B1EF87E}"/>
              </a:ext>
            </a:extLst>
          </p:cNvPr>
          <p:cNvSpPr>
            <a:spLocks noGrp="1"/>
          </p:cNvSpPr>
          <p:nvPr/>
        </p:nvSpPr>
        <p:spPr>
          <a:xfrm>
            <a:off x="11049000" y="6324600"/>
            <a:ext cx="36671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Данные для решений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146398A-B18F-4860-B4DA-C0379E932DEA}"/>
              </a:ext>
            </a:extLst>
          </p:cNvPr>
          <p:cNvSpPr>
            <a:spLocks noGrp="1"/>
          </p:cNvSpPr>
          <p:nvPr/>
        </p:nvSpPr>
        <p:spPr>
          <a:xfrm>
            <a:off x="11049000" y="7029450"/>
            <a:ext cx="3667125" cy="1123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0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Выявление проблемных машин и узлов, уточнение планов обслуживания.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7190551-491E-42A6-8602-D187D2018C2D}"/>
              </a:ext>
            </a:extLst>
          </p:cNvPr>
          <p:cNvSpPr>
            <a:spLocks noGrp="1"/>
          </p:cNvSpPr>
          <p:nvPr/>
        </p:nvSpPr>
        <p:spPr>
          <a:xfrm>
            <a:off x="13954125" y="8134350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05 / 07</a:t>
            </a:r>
          </a:p>
        </p:txBody>
      </p:sp>
    </p:spTree>
    <p:extLst>
      <p:ext uri="{BB962C8B-B14F-4D97-AF65-F5344CB8AC3E}">
        <p14:creationId xmlns:p14="http://schemas.microsoft.com/office/powerpoint/2010/main" val="823466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12CF0DA-7767-4C12-8D98-2FCFF3BF26D3}"/>
              </a:ext>
            </a:extLst>
          </p:cNvPr>
          <p:cNvSpPr>
            <a:spLocks noGrp="1"/>
          </p:cNvSpPr>
          <p:nvPr/>
        </p:nvSpPr>
        <p:spPr>
          <a:xfrm>
            <a:off x="533400" y="257175"/>
            <a:ext cx="971550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lang="ru-RU" sz="1350" b="1" dirty="0" smtClean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РАЗВИТИЕ СИСТЕМЫ </a:t>
            </a:r>
            <a:r>
              <a:rPr sz="1350" b="1" dirty="0" smtClean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/  0</a:t>
            </a:r>
            <a:r>
              <a:rPr lang="ru-RU" sz="1350" b="1" dirty="0" smtClean="0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6</a:t>
            </a:r>
            <a:endParaRPr sz="1350" b="1" dirty="0">
              <a:solidFill>
                <a:srgbClr val="006CB5"/>
              </a:solidFill>
              <a:latin typeface="Segoe UI"/>
              <a:ea typeface="Segoe UI"/>
              <a:cs typeface="Segoe UI"/>
            </a:endParaRP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72850" y="224792"/>
            <a:ext cx="3333750" cy="512442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2AD78B2-22F9-470D-B175-E71C41EE87B0}"/>
              </a:ext>
            </a:extLst>
          </p:cNvPr>
          <p:cNvSpPr>
            <a:spLocks noGrp="1"/>
          </p:cNvSpPr>
          <p:nvPr/>
        </p:nvSpPr>
        <p:spPr>
          <a:xfrm>
            <a:off x="533400" y="1102637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8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8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Мобильные бригады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CAC9F38-A738-4EF6-BA10-7C318E39E3A4}"/>
              </a:ext>
            </a:extLst>
          </p:cNvPr>
          <p:cNvSpPr>
            <a:spLocks noGrp="1"/>
          </p:cNvSpPr>
          <p:nvPr/>
        </p:nvSpPr>
        <p:spPr>
          <a:xfrm>
            <a:off x="533400" y="1759862"/>
            <a:ext cx="8572500" cy="8477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Специалист фиксирует выполнение и дефекты</a:t>
            </a:r>
          </a:p>
          <a:p>
            <a:pPr>
              <a:defRPr sz="21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непосредственно у машины.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45B0EF5-55C2-4FDD-A3F2-864C4E312D89}"/>
              </a:ext>
            </a:extLst>
          </p:cNvPr>
          <p:cNvSpPr>
            <a:spLocks noGrp="1"/>
          </p:cNvSpPr>
          <p:nvPr/>
        </p:nvSpPr>
        <p:spPr>
          <a:xfrm>
            <a:off x="533400" y="2921912"/>
            <a:ext cx="62865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29EE4A2-FB96-48ED-A3E4-A94809845B03}"/>
              </a:ext>
            </a:extLst>
          </p:cNvPr>
          <p:cNvSpPr>
            <a:spLocks noGrp="1"/>
          </p:cNvSpPr>
          <p:nvPr/>
        </p:nvSpPr>
        <p:spPr>
          <a:xfrm>
            <a:off x="1352550" y="2921912"/>
            <a:ext cx="7762875" cy="4667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2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Работа по наряду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6DF25D1-3473-470C-ADDA-C586AF047D5E}"/>
              </a:ext>
            </a:extLst>
          </p:cNvPr>
          <p:cNvSpPr>
            <a:spLocks noGrp="1"/>
          </p:cNvSpPr>
          <p:nvPr/>
        </p:nvSpPr>
        <p:spPr>
          <a:xfrm>
            <a:off x="1352550" y="3407687"/>
            <a:ext cx="7762875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Открытие наряда по QR-коду, отметки в чек-листе ТО</a:t>
            </a:r>
          </a:p>
          <a:p>
            <a:pPr>
              <a:defRPr sz="18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и учет собственного времени.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16A79F6-CCD5-4095-86EE-DAC8655AD70B}"/>
              </a:ext>
            </a:extLst>
          </p:cNvPr>
          <p:cNvSpPr>
            <a:spLocks noGrp="1"/>
          </p:cNvSpPr>
          <p:nvPr/>
        </p:nvSpPr>
        <p:spPr>
          <a:xfrm>
            <a:off x="533400" y="4255412"/>
            <a:ext cx="62865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A9CA8F6-C7D4-44BA-9BAA-95A5197F3515}"/>
              </a:ext>
            </a:extLst>
          </p:cNvPr>
          <p:cNvSpPr>
            <a:spLocks noGrp="1"/>
          </p:cNvSpPr>
          <p:nvPr/>
        </p:nvSpPr>
        <p:spPr>
          <a:xfrm>
            <a:off x="1352550" y="4255412"/>
            <a:ext cx="7762875" cy="4667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2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Фото и видео дефектов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AA35A19-06FB-4342-92C5-8D4FAB718FB6}"/>
              </a:ext>
            </a:extLst>
          </p:cNvPr>
          <p:cNvSpPr>
            <a:spLocks noGrp="1"/>
          </p:cNvSpPr>
          <p:nvPr/>
        </p:nvSpPr>
        <p:spPr>
          <a:xfrm>
            <a:off x="1352550" y="4741187"/>
            <a:ext cx="7762875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Снимок или видео с комментарием сохраняются</a:t>
            </a:r>
          </a:p>
          <a:p>
            <a:pPr>
              <a:defRPr sz="18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в истории оборудования и передаются мастеру.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870C24F-6886-4265-B843-BF0483A7236C}"/>
              </a:ext>
            </a:extLst>
          </p:cNvPr>
          <p:cNvSpPr>
            <a:spLocks noGrp="1"/>
          </p:cNvSpPr>
          <p:nvPr/>
        </p:nvSpPr>
        <p:spPr>
          <a:xfrm>
            <a:off x="533400" y="5588912"/>
            <a:ext cx="628650" cy="4095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006CB5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006CB5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03E6F5B-2830-48E4-8696-1C4BFA650409}"/>
              </a:ext>
            </a:extLst>
          </p:cNvPr>
          <p:cNvSpPr>
            <a:spLocks noGrp="1"/>
          </p:cNvSpPr>
          <p:nvPr/>
        </p:nvSpPr>
        <p:spPr>
          <a:xfrm>
            <a:off x="1352550" y="5588912"/>
            <a:ext cx="7762875" cy="4667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250" b="1">
                <a:solidFill>
                  <a:srgbClr val="1C1E20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C1E20"/>
                </a:solidFill>
                <a:latin typeface="Segoe UI"/>
                <a:ea typeface="Segoe UI"/>
                <a:cs typeface="Segoe UI"/>
              </a:rPr>
              <a:t>Мобильная веб-версия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3DFDCA5-984A-48EB-B7AF-1F0F64C1577F}"/>
              </a:ext>
            </a:extLst>
          </p:cNvPr>
          <p:cNvSpPr>
            <a:spLocks noGrp="1"/>
          </p:cNvSpPr>
          <p:nvPr/>
        </p:nvSpPr>
        <p:spPr>
          <a:xfrm>
            <a:off x="1352550" y="6074687"/>
            <a:ext cx="7762875" cy="819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8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875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Интерфейс</a:t>
            </a:r>
            <a:r>
              <a:rPr sz="1875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75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для</a:t>
            </a:r>
            <a:r>
              <a:rPr sz="1875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75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телефона</a:t>
            </a:r>
            <a:r>
              <a:rPr sz="1875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с </a:t>
            </a:r>
            <a:r>
              <a:rPr sz="1875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установкой</a:t>
            </a:r>
            <a:r>
              <a:rPr sz="1875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75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на</a:t>
            </a:r>
            <a:r>
              <a:rPr sz="1875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75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главный</a:t>
            </a:r>
            <a:r>
              <a:rPr sz="1875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75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экран</a:t>
            </a:r>
            <a:r>
              <a:rPr sz="1875" b="0" dirty="0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.</a:t>
            </a:r>
            <a:endParaRPr sz="1875" b="0" dirty="0">
              <a:solidFill>
                <a:srgbClr val="59636C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ABA9D6F-33EC-4312-A51D-858AD059062C}"/>
              </a:ext>
            </a:extLst>
          </p:cNvPr>
          <p:cNvSpPr>
            <a:spLocks noGrp="1"/>
          </p:cNvSpPr>
          <p:nvPr/>
        </p:nvSpPr>
        <p:spPr>
          <a:xfrm>
            <a:off x="1352550" y="6617612"/>
            <a:ext cx="814387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65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65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При</a:t>
            </a:r>
            <a:r>
              <a:rPr sz="165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 b="0" dirty="0" err="1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отсутствии</a:t>
            </a:r>
            <a:r>
              <a:rPr lang="ru-RU" sz="1650" b="0" dirty="0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интернет соединения</a:t>
            </a:r>
            <a:r>
              <a:rPr sz="1650" b="0" dirty="0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: </a:t>
            </a:r>
            <a:r>
              <a:rPr sz="165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локальное</a:t>
            </a:r>
            <a:r>
              <a:rPr sz="165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сохранение</a:t>
            </a:r>
            <a:r>
              <a:rPr sz="165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и </a:t>
            </a:r>
            <a:r>
              <a:rPr sz="165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передача</a:t>
            </a:r>
            <a:endParaRPr sz="1650" b="0" dirty="0">
              <a:solidFill>
                <a:srgbClr val="59636C"/>
              </a:solidFill>
              <a:latin typeface="Segoe UI"/>
              <a:ea typeface="Segoe UI"/>
              <a:cs typeface="Segoe UI"/>
            </a:endParaRPr>
          </a:p>
          <a:p>
            <a:pPr>
              <a:defRPr sz="1650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65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данных</a:t>
            </a:r>
            <a:r>
              <a:rPr sz="165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после</a:t>
            </a:r>
            <a:r>
              <a:rPr sz="1650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подключения</a:t>
            </a:r>
            <a:r>
              <a:rPr sz="1650" b="0" dirty="0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.</a:t>
            </a:r>
            <a:endParaRPr sz="1650" b="0" dirty="0">
              <a:solidFill>
                <a:srgbClr val="59636C"/>
              </a:solidFill>
              <a:latin typeface="Segoe UI"/>
              <a:ea typeface="Segoe UI"/>
              <a:cs typeface="Segoe UI"/>
            </a:endParaRPr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923463" y="1371600"/>
            <a:ext cx="4470400" cy="6705600"/>
          </a:xfrm>
          <a:prstGeom prst="rect">
            <a:avLst/>
          </a:prstGeom>
        </p:spPr>
      </p:pic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DA66BF6-8FE0-41A8-8730-21634F09EBD6}"/>
              </a:ext>
            </a:extLst>
          </p:cNvPr>
          <p:cNvSpPr>
            <a:spLocks noGrp="1"/>
          </p:cNvSpPr>
          <p:nvPr/>
        </p:nvSpPr>
        <p:spPr>
          <a:xfrm>
            <a:off x="533400" y="8134350"/>
            <a:ext cx="1319212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Концепция</a:t>
            </a:r>
            <a:r>
              <a:rPr sz="1275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75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мобильной</a:t>
            </a:r>
            <a:r>
              <a:rPr sz="1275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75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версии</a:t>
            </a:r>
            <a:r>
              <a:rPr sz="1275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· </a:t>
            </a:r>
            <a:r>
              <a:rPr sz="1275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демонстрационные</a:t>
            </a:r>
            <a:r>
              <a:rPr sz="1275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75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данные</a:t>
            </a:r>
            <a:r>
              <a:rPr sz="1275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и </a:t>
            </a:r>
            <a:r>
              <a:rPr sz="1275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изображение</a:t>
            </a:r>
            <a:r>
              <a:rPr sz="1275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75" b="0" dirty="0" err="1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дефекта</a:t>
            </a:r>
            <a:endParaRPr sz="1275" b="0" dirty="0">
              <a:solidFill>
                <a:srgbClr val="59636C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612D5F6-623C-4583-872F-C97E9578FA36}"/>
              </a:ext>
            </a:extLst>
          </p:cNvPr>
          <p:cNvSpPr>
            <a:spLocks noGrp="1"/>
          </p:cNvSpPr>
          <p:nvPr/>
        </p:nvSpPr>
        <p:spPr>
          <a:xfrm>
            <a:off x="13954125" y="8134350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59636C"/>
                </a:solidFill>
                <a:latin typeface="Segoe UI"/>
                <a:ea typeface="Segoe UI"/>
                <a:cs typeface="Segoe UI"/>
              </a:defRPr>
            </a:pPr>
            <a:r>
              <a:rPr sz="1275" b="0" dirty="0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0</a:t>
            </a:r>
            <a:r>
              <a:rPr lang="ru-RU" sz="1275" b="0" dirty="0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6</a:t>
            </a:r>
            <a:r>
              <a:rPr sz="1275" b="0" dirty="0" smtClean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75" b="0" dirty="0">
                <a:solidFill>
                  <a:srgbClr val="59636C"/>
                </a:solidFill>
                <a:latin typeface="Segoe UI"/>
                <a:ea typeface="Segoe UI"/>
                <a:cs typeface="Segoe UI"/>
              </a:rPr>
              <a:t>/ 07</a:t>
            </a:r>
          </a:p>
        </p:txBody>
      </p:sp>
    </p:spTree>
    <p:extLst>
      <p:ext uri="{BB962C8B-B14F-4D97-AF65-F5344CB8AC3E}">
        <p14:creationId xmlns:p14="http://schemas.microsoft.com/office/powerpoint/2010/main" val="2099661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50D7C3F-032A-4C98-9231-8A02C777EBFC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350" b="1">
                <a:solidFill>
                  <a:srgbClr val="65B7EC"/>
                </a:solidFill>
                <a:latin typeface="Segoe UI"/>
                <a:ea typeface="Segoe UI"/>
                <a:cs typeface="Segoe UI"/>
              </a:defRPr>
            </a:pPr>
            <a:r>
              <a:rPr sz="1350" b="1" dirty="0">
                <a:solidFill>
                  <a:srgbClr val="65B7EC"/>
                </a:solidFill>
                <a:latin typeface="Segoe UI"/>
                <a:ea typeface="Segoe UI"/>
                <a:cs typeface="Segoe UI"/>
              </a:rPr>
              <a:t>ПРЕИМУЩЕСТВА  /  </a:t>
            </a:r>
            <a:r>
              <a:rPr sz="1350" b="1" dirty="0" smtClean="0">
                <a:solidFill>
                  <a:srgbClr val="65B7EC"/>
                </a:solidFill>
                <a:latin typeface="Segoe UI"/>
                <a:ea typeface="Segoe UI"/>
                <a:cs typeface="Segoe UI"/>
              </a:rPr>
              <a:t>0</a:t>
            </a:r>
            <a:r>
              <a:rPr lang="ru-RU" sz="1350" b="1" dirty="0" smtClean="0">
                <a:solidFill>
                  <a:srgbClr val="65B7EC"/>
                </a:solidFill>
                <a:latin typeface="Segoe UI"/>
                <a:ea typeface="Segoe UI"/>
                <a:cs typeface="Segoe UI"/>
              </a:rPr>
              <a:t>7</a:t>
            </a:r>
            <a:endParaRPr sz="1350" b="1" dirty="0">
              <a:solidFill>
                <a:srgbClr val="65B7EC"/>
              </a:solidFill>
              <a:latin typeface="Segoe UI"/>
              <a:ea typeface="Segoe UI"/>
              <a:cs typeface="Segoe UI"/>
            </a:endParaRP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72850" y="224792"/>
            <a:ext cx="3333750" cy="512442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8E33C3A1-B5F8-4E8C-8C4B-80192883A2FC}"/>
              </a:ext>
            </a:extLst>
          </p:cNvPr>
          <p:cNvSpPr>
            <a:spLocks noGrp="1"/>
          </p:cNvSpPr>
          <p:nvPr/>
        </p:nvSpPr>
        <p:spPr>
          <a:xfrm>
            <a:off x="533400" y="962025"/>
            <a:ext cx="13716000" cy="1390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Управляемый процесс ремонта</a:t>
            </a:r>
          </a:p>
          <a:p>
            <a:pPr>
              <a:defRPr sz="405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405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и достоверная история техники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FCD28ED-20BB-4AB7-83DD-FB7BC3402F2D}"/>
              </a:ext>
            </a:extLst>
          </p:cNvPr>
          <p:cNvSpPr>
            <a:spLocks noGrp="1"/>
          </p:cNvSpPr>
          <p:nvPr/>
        </p:nvSpPr>
        <p:spPr>
          <a:xfrm>
            <a:off x="533400" y="3076575"/>
            <a:ext cx="70485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550" b="1">
                <a:solidFill>
                  <a:srgbClr val="65B7E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65B7EC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9AA0CA2-080A-4796-B5EF-43EA25972438}"/>
              </a:ext>
            </a:extLst>
          </p:cNvPr>
          <p:cNvSpPr>
            <a:spLocks noGrp="1"/>
          </p:cNvSpPr>
          <p:nvPr/>
        </p:nvSpPr>
        <p:spPr>
          <a:xfrm>
            <a:off x="1409700" y="3095625"/>
            <a:ext cx="58864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Прозрачное выполнение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90AF3AF-DAC8-48AB-9C05-5940423DD824}"/>
              </a:ext>
            </a:extLst>
          </p:cNvPr>
          <p:cNvSpPr>
            <a:spLocks noGrp="1"/>
          </p:cNvSpPr>
          <p:nvPr/>
        </p:nvSpPr>
        <p:spPr>
          <a:xfrm>
            <a:off x="1409700" y="3705225"/>
            <a:ext cx="5857875" cy="8667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По каждой заявке видны статус, сроки,</a:t>
            </a:r>
          </a:p>
          <a:p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ответственный и результат работ.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1862409-7F0F-4D0D-9A6F-D60CB1D67502}"/>
              </a:ext>
            </a:extLst>
          </p:cNvPr>
          <p:cNvSpPr>
            <a:spLocks noGrp="1"/>
          </p:cNvSpPr>
          <p:nvPr/>
        </p:nvSpPr>
        <p:spPr>
          <a:xfrm>
            <a:off x="7886700" y="3076575"/>
            <a:ext cx="70485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550" b="1">
                <a:solidFill>
                  <a:srgbClr val="65B7E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65B7EC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BCC788C-5114-4F2D-B3BE-B847E7C96610}"/>
              </a:ext>
            </a:extLst>
          </p:cNvPr>
          <p:cNvSpPr>
            <a:spLocks noGrp="1"/>
          </p:cNvSpPr>
          <p:nvPr/>
        </p:nvSpPr>
        <p:spPr>
          <a:xfrm>
            <a:off x="8763000" y="3095625"/>
            <a:ext cx="58864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Единые нормативы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B571D5F-471C-4B55-B0A1-28A58AA40C36}"/>
              </a:ext>
            </a:extLst>
          </p:cNvPr>
          <p:cNvSpPr>
            <a:spLocks noGrp="1"/>
          </p:cNvSpPr>
          <p:nvPr/>
        </p:nvSpPr>
        <p:spPr>
          <a:xfrm>
            <a:off x="8763000" y="3705225"/>
            <a:ext cx="5857875" cy="107895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lang="ru-RU" sz="2025" dirty="0" err="1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Техкарты</a:t>
            </a:r>
            <a:r>
              <a:rPr lang="ru-RU" sz="2025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 на ТО и типовые </a:t>
            </a:r>
            <a:r>
              <a:rPr lang="ru-RU" sz="2025" dirty="0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ремонтные </a:t>
            </a:r>
            <a:r>
              <a:rPr lang="ru-RU" sz="2025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работы задают состав операций и основу для сравнения плана с фактом.</a:t>
            </a:r>
            <a:endParaRPr lang="ru-RU" sz="2025" dirty="0">
              <a:solidFill>
                <a:srgbClr val="B8C1C8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F8005F9-F5E2-4B11-AEF3-940FBC001EB9}"/>
              </a:ext>
            </a:extLst>
          </p:cNvPr>
          <p:cNvSpPr>
            <a:spLocks noGrp="1"/>
          </p:cNvSpPr>
          <p:nvPr/>
        </p:nvSpPr>
        <p:spPr>
          <a:xfrm>
            <a:off x="533400" y="5057775"/>
            <a:ext cx="70485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550" b="1">
                <a:solidFill>
                  <a:srgbClr val="65B7E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65B7EC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55469535-2282-4952-8EB4-A64AA22DED5D}"/>
              </a:ext>
            </a:extLst>
          </p:cNvPr>
          <p:cNvSpPr>
            <a:spLocks noGrp="1"/>
          </p:cNvSpPr>
          <p:nvPr/>
        </p:nvSpPr>
        <p:spPr>
          <a:xfrm>
            <a:off x="1409700" y="5076825"/>
            <a:ext cx="58864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История каждой машины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1070353-9C7E-4413-974F-56BD36572ED4}"/>
              </a:ext>
            </a:extLst>
          </p:cNvPr>
          <p:cNvSpPr>
            <a:spLocks noGrp="1"/>
          </p:cNvSpPr>
          <p:nvPr/>
        </p:nvSpPr>
        <p:spPr>
          <a:xfrm>
            <a:off x="1409700" y="5686425"/>
            <a:ext cx="5857875" cy="8667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lang="ru-RU" sz="2025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Выполненные работы, наработка</a:t>
            </a:r>
            <a:r>
              <a:rPr lang="ru-RU" sz="2025" dirty="0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, установленные </a:t>
            </a:r>
            <a:r>
              <a:rPr lang="ru-RU" sz="2025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узлы и использованные материалы собраны в одном месте и доступны специалистам.</a:t>
            </a:r>
            <a:endParaRPr lang="ru-RU" sz="2025" dirty="0">
              <a:solidFill>
                <a:srgbClr val="B8C1C8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6ECAF17-47DB-4237-BC6D-5BD9B411A6AE}"/>
              </a:ext>
            </a:extLst>
          </p:cNvPr>
          <p:cNvSpPr>
            <a:spLocks noGrp="1"/>
          </p:cNvSpPr>
          <p:nvPr/>
        </p:nvSpPr>
        <p:spPr>
          <a:xfrm>
            <a:off x="7886700" y="5057775"/>
            <a:ext cx="704850" cy="5048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550" b="1">
                <a:solidFill>
                  <a:srgbClr val="65B7EC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65B7EC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34C2513-0DEA-4D90-A1F3-C37E1E887650}"/>
              </a:ext>
            </a:extLst>
          </p:cNvPr>
          <p:cNvSpPr>
            <a:spLocks noGrp="1"/>
          </p:cNvSpPr>
          <p:nvPr/>
        </p:nvSpPr>
        <p:spPr>
          <a:xfrm>
            <a:off x="8763000" y="5076825"/>
            <a:ext cx="5886450" cy="514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lang="ru-RU" sz="2400" b="1" dirty="0" smtClean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Масштабируемост</a:t>
            </a:r>
            <a:r>
              <a:rPr lang="ru-RU" sz="2400" b="1" dirty="0" smtClean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ь системы</a:t>
            </a:r>
            <a:endParaRPr sz="2400" b="1" dirty="0">
              <a:solidFill>
                <a:srgbClr val="FFFFFF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A7004C1-83F2-49B6-A5E1-7B136F39CCDE}"/>
              </a:ext>
            </a:extLst>
          </p:cNvPr>
          <p:cNvSpPr>
            <a:spLocks noGrp="1"/>
          </p:cNvSpPr>
          <p:nvPr/>
        </p:nvSpPr>
        <p:spPr>
          <a:xfrm>
            <a:off x="8763000" y="5686425"/>
            <a:ext cx="5857875" cy="8667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02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lang="ru-RU" sz="2025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Разработка и внедрение функционала этапами. Старт – базовый функционал управления ремонтами. Развитие – адаптация функционала под бизнес процессы компании.</a:t>
            </a:r>
            <a:endParaRPr lang="ru-RU" sz="2025" dirty="0">
              <a:solidFill>
                <a:srgbClr val="B8C1C8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5468B50-9197-4D13-AA05-492B94C895BA}"/>
              </a:ext>
            </a:extLst>
          </p:cNvPr>
          <p:cNvSpPr>
            <a:spLocks noGrp="1"/>
          </p:cNvSpPr>
          <p:nvPr/>
        </p:nvSpPr>
        <p:spPr>
          <a:xfrm>
            <a:off x="533400" y="7286625"/>
            <a:ext cx="14173200" cy="9525"/>
          </a:xfrm>
          <a:prstGeom prst="rect">
            <a:avLst/>
          </a:prstGeom>
          <a:solidFill>
            <a:srgbClr val="4C555B"/>
          </a:solidFill>
          <a:ln w="0">
            <a:noFill/>
          </a:ln>
        </p:spPr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12BD4D8-7D48-479D-99CD-52F52BD514C3}"/>
              </a:ext>
            </a:extLst>
          </p:cNvPr>
          <p:cNvSpPr>
            <a:spLocks noGrp="1"/>
          </p:cNvSpPr>
          <p:nvPr/>
        </p:nvSpPr>
        <p:spPr>
          <a:xfrm>
            <a:off x="13954125" y="8134350"/>
            <a:ext cx="8572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B8C1C8"/>
                </a:solidFill>
                <a:latin typeface="Segoe UI"/>
                <a:ea typeface="Segoe UI"/>
                <a:cs typeface="Segoe UI"/>
              </a:defRPr>
            </a:pPr>
            <a:r>
              <a:rPr sz="1275" b="0" dirty="0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0</a:t>
            </a:r>
            <a:r>
              <a:rPr lang="ru-RU" sz="1275" b="0" dirty="0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7</a:t>
            </a:r>
            <a:r>
              <a:rPr sz="1275" b="0" dirty="0" smtClean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275" b="0" dirty="0">
                <a:solidFill>
                  <a:srgbClr val="B8C1C8"/>
                </a:solidFill>
                <a:latin typeface="Segoe UI"/>
                <a:ea typeface="Segoe UI"/>
                <a:cs typeface="Segoe UI"/>
              </a:rPr>
              <a:t>/ 07</a:t>
            </a:r>
          </a:p>
        </p:txBody>
      </p:sp>
    </p:spTree>
    <p:extLst>
      <p:ext uri="{BB962C8B-B14F-4D97-AF65-F5344CB8AC3E}">
        <p14:creationId xmlns:p14="http://schemas.microsoft.com/office/powerpoint/2010/main" val="144801657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538</Words>
  <Application>Microsoft Office PowerPoint</Application>
  <DocSecurity>0</DocSecurity>
  <PresentationFormat>Произвольный</PresentationFormat>
  <Paragraphs>113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Calibri</vt:lpstr>
      <vt:lpstr>Segoe UI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Петрикин Иван Витальевич</cp:lastModifiedBy>
  <cp:revision>4</cp:revision>
  <dcterms:created xsi:type="dcterms:W3CDTF">2026-09-09T08:34:08Z</dcterms:created>
  <dcterms:modified xsi:type="dcterms:W3CDTF">2026-09-09T08:53:41Z</dcterms:modified>
</cp:coreProperties>
</file>