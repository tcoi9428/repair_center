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cf25e1ef8e4c65" /><Relationship Type="http://schemas.openxmlformats.org/officeDocument/2006/relationships/extended-properties" Target="/docProps/app.xml" Id="R3e50afb973bc4653" /><Relationship Type="http://schemas.openxmlformats.org/officeDocument/2006/relationships/officeDocument" Target="/ppt/presentation.xml" Id="R3705a088711a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b9bc872fa46f2"/>
  </p:sldMasterIdLst>
  <p:notesMasterIdLst>
    <p:notesMasterId xmlns:r="http://schemas.openxmlformats.org/officeDocument/2006/relationships" r:id="Ra21e69efca214433"/>
  </p:notesMasterIdLst>
  <p:sldIdLst>
    <p:sldId xmlns:r="http://schemas.openxmlformats.org/officeDocument/2006/relationships" id="256" r:id="Raa8c354aea1e4e0d"/>
    <p:sldId xmlns:r="http://schemas.openxmlformats.org/officeDocument/2006/relationships" id="257" r:id="R36838eefd242402b"/>
    <p:sldId xmlns:r="http://schemas.openxmlformats.org/officeDocument/2006/relationships" id="258" r:id="R41574a617dd845a4"/>
    <p:sldId xmlns:r="http://schemas.openxmlformats.org/officeDocument/2006/relationships" id="259" r:id="Rb60e73c0f595492d"/>
    <p:sldId xmlns:r="http://schemas.openxmlformats.org/officeDocument/2006/relationships" id="260" r:id="R7a37025f1804417f"/>
    <p:sldId xmlns:r="http://schemas.openxmlformats.org/officeDocument/2006/relationships" id="261" r:id="Re8abb51e76894153"/>
    <p:sldId xmlns:r="http://schemas.openxmlformats.org/officeDocument/2006/relationships" id="262" r:id="R74a93d77a1864a6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78084b0004af7" /><Relationship Type="http://schemas.openxmlformats.org/officeDocument/2006/relationships/slideMaster" Target="/ppt/slideMasters/slideMaster1.xml" Id="Rb2db9bc872fa46f2" /><Relationship Type="http://schemas.openxmlformats.org/officeDocument/2006/relationships/notesMaster" Target="/ppt/notesMasters/notesMaster1.xml" Id="Ra21e69efca214433" /><Relationship Type="http://schemas.openxmlformats.org/officeDocument/2006/relationships/presProps" Target="/ppt/presProps.xml" Id="R3452cd4d078a46b5" /><Relationship Type="http://schemas.openxmlformats.org/officeDocument/2006/relationships/tableStyles" Target="/ppt/tableStyles.xml" Id="R3dd418e2210d4e21" /><Relationship Type="http://schemas.openxmlformats.org/officeDocument/2006/relationships/slide" Target="/ppt/slides/slide1.xml" Id="Raa8c354aea1e4e0d" /><Relationship Type="http://schemas.openxmlformats.org/officeDocument/2006/relationships/slide" Target="/ppt/slides/slide2.xml" Id="R36838eefd242402b" /><Relationship Type="http://schemas.openxmlformats.org/officeDocument/2006/relationships/slide" Target="/ppt/slides/slide3.xml" Id="R41574a617dd845a4" /><Relationship Type="http://schemas.openxmlformats.org/officeDocument/2006/relationships/slide" Target="/ppt/slides/slide4.xml" Id="Rb60e73c0f595492d" /><Relationship Type="http://schemas.openxmlformats.org/officeDocument/2006/relationships/slide" Target="/ppt/slides/slide5.xml" Id="R7a37025f1804417f" /><Relationship Type="http://schemas.openxmlformats.org/officeDocument/2006/relationships/slide" Target="/ppt/slides/slide6.xml" Id="Re8abb51e76894153" /><Relationship Type="http://schemas.openxmlformats.org/officeDocument/2006/relationships/slide" Target="/ppt/slides/slide7.xml" Id="R74a93d77a186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1d46628dd40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3bd86d58654e33" /><Relationship Type="http://schemas.openxmlformats.org/officeDocument/2006/relationships/notesMaster" Target="/ppt/notesMasters/notesMaster1.xml" Id="Rc6e8bb4b789a49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f4fc1c3c8948d2" /><Relationship Type="http://schemas.openxmlformats.org/officeDocument/2006/relationships/notesMaster" Target="/ppt/notesMasters/notesMaster1.xml" Id="Ra7f777dbdbc6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cb5dcdbe3a4082" /><Relationship Type="http://schemas.openxmlformats.org/officeDocument/2006/relationships/notesMaster" Target="/ppt/notesMasters/notesMaster1.xml" Id="Rd0550373f44e48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55c2c784c540b3" /><Relationship Type="http://schemas.openxmlformats.org/officeDocument/2006/relationships/notesMaster" Target="/ppt/notesMasters/notesMaster1.xml" Id="Re83a64d222254a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a3e04bfa64f03" /><Relationship Type="http://schemas.openxmlformats.org/officeDocument/2006/relationships/notesMaster" Target="/ppt/notesMasters/notesMaster1.xml" Id="Rb340b58b41e248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146e5544ce4809" /><Relationship Type="http://schemas.openxmlformats.org/officeDocument/2006/relationships/notesMaster" Target="/ppt/notesMasters/notesMaster1.xml" Id="R22a170a9782149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20b444079d43ce" /><Relationship Type="http://schemas.openxmlformats.org/officeDocument/2006/relationships/notesMaster" Target="/ppt/notesMasters/notesMaster1.xml" Id="Re326a8037a2547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 — связать данные по технике, нормативам, заявкам и фактическим работам в едином процессе. Система внедряется поэтапно с корректировкой под реальные бизнес-процессы компании. Аналитика показана как целевое развитие после MVP. Базовый технологический вариант: Django и веб-интерфейс, PostgreSQL, Ubuntu Server; точная архитектура уточняется перед реализацией.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требования пользователя в текущем чате; analysis/implementation-proposal.md; analysis/requirements-source.md. Бренд: static/branding/logo-light.svg и logo-dark.svg, выбранная айдентика № 2 «Модуль», кириллица РЦ. Изображения экранов созданы с помощью OpenAI ImageGen для этой презентации 09.09.2026. Это концептуальные макеты будущего продукта, не снимки работающей системы. Все организации, номера и показатели на экранах —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Создание карточки оборудования и технологической карты показано двумя формами рядом. Нормы трудоемкости — условные для демонстрации интерфейса, не производственная инструкция. Версионность техкарт помогает сохранять норматив, по которому формировался конкретный наряд.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требования пользователя в текущем чате; analysis/implementation-proposal.md; analysis/requirements-source.md. Бренд: static/branding/logo-light.svg и logo-dark.svg, выбранная айдентика № 2 «Модуль», кириллица РЦ. Изображения экранов созданы с помощью OpenAI ImageGen для этой презентации 09.09.2026. Это концептуальные макеты будущего продукта, не снимки работающей системы. Все организации, номера и показатели на экранах —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MVP заявку от заказчика вручную регистрирует сотрудник компании. Макет не подразумевает клиентский портал, электронную почту или интеграцию. Показан сценарий планового ТО; те же сущности могут использоваться для аварийного или планового ремонта после согласования процессов.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требования пользователя в текущем чате; analysis/implementation-proposal.md; analysis/requirements-source.md. Бренд: static/branding/logo-light.svg и logo-dark.svg, выбранная айдентика № 2 «Модуль», кириллица РЦ. Изображения экранов созданы с помощью OpenAI ImageGen для этой презентации 09.09.2026. Это концептуальные макеты будущего продукта, не снимки работающей системы. Все организации, номера и показатели на экранах —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Мастер проверяет факт работ и время каждого сотрудника, подтверждает результат либо возвращает на доработку. Пример без перерывов: Иванов 09:00–10:00 = 1,0 ч; Петров 09:00–09:42 = 0,7 ч; Сидоров 09:00–09:30 = 0,5 ч. Суммарные трудозатраты 2,2 чел·ч, а не длительность ремонта. Прикрепляется скан или фотография уже подписанного бумажного акта; юридически значимая электронная подпись не подразумевается. QR содержит RC:WO:835ea7cb-44d0-4758-a775-18014e533e4d, уникальный демонстрационный идентификатор НЗ-041. Это не URL работающего сервиса. В будущем приложение по этому идентификатору ищет наряд с учетом прав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требования пользователя в текущем чате; analysis/implementation-proposal.md; analysis/requirements-source.md. Бренд: static/branding/logo-light.svg и logo-dark.svg, выбранная айдентика № 2 «Модуль», кириллица РЦ. Изображения экранов созданы с помощью OpenAI ImageGen для этой презентации 09.09.2026. Это концептуальные макеты будущего продукта, не снимки работающей системы. Все организации, номера и показатели на экранах —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Развитие после MVP: аналитика и отчеты не включаются автоматически в первый этап. Для расчетов нужны достоверные события отказов, интервалы простоев и показания наработки. Методики расчета, границы периода и трактовки показателей следует согласовать до реализации. Демонстрационная панель не является статистикой компании; графики и таблица не представляют единый реальный массив наблюдений.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требования пользователя в текущем чате; analysis/implementation-proposal.md; analysis/requirements-source.md. Бренд: static/branding/logo-light.svg и logo-dark.svg, выбранная айдентика № 2 «Модуль», кириллица РЦ. Изображения экранов созданы с помощью OpenAI ImageGen для этой презентации 09.09.2026. Это концептуальные макеты будущего продукта, не снимки работающей системы. Все организации, номера и показатели на экранах —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Преимущества описывают ожидаемые возможности процесса, а не уже достигнутый эффект. Для оценки пилота можно согласовать измерение сроков обработки заявок, полноты истории и качества регистрации факта. Проценты экономии и сокращения простоев не заявляются: подтвержденных исходных данных нет. Развитие по шагам — прямое пожелание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требования пользователя в текущем чате; analysis/implementation-proposal.md; analysis/requirements-source.md. Бренд: static/branding/logo-light.svg и logo-dark.svg, выбранная айдентика № 2 «Модуль», кириллица РЦ. Изображения экранов созданы с помощью OpenAI ImageGen для этой презентации 09.09.2026. Это концептуальные макеты будущего продукта, не снимки работающей системы. Все организации, номера и показатели на экранах —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следующий этап после MVP — мобильная веб-версия (PWA) для работы бригады у оборудования с общим сервером и базой данных. Специалист отмечает выполненные операции, указывает личное время, прикладывает фото или видео дефектов и передает результат мастеру. Мастер проверяет результат; отметки в чек-листе не означают разрешения на эксплуатацию машины с открытым дефектом. На макете показан оборванный провод ПДМ с состоянием «Требует устранения». Фотография сгенерирована и служит иллюстрацией. Автономная работа проектируется отдельно: локальное хранение очереди изменений и вложений, индикация синхронизации, повторная передача и разрешение конфликтов. Поддержку камеры, видео и локального хранения необходимо проверить на фактических устройствах. Мобильная версия еще не реализована.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требования пользователя в текущем чате; analysis/implementation-proposal.md; analysis/requirements-source.md. Бренд: static/branding/logo-light.svg и logo-dark.svg, выбранная айдентика № 2 «Модуль», кириллица РЦ. Изображения экранов созданы с помощью OpenAI ImageGen для этой презентации 09.09.2026. Это концептуальные макеты будущего продукта, не снимки работающей системы. Все организации, номера и показатели на экранах —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bf9268b43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538e4b32047bd" /><Relationship Type="http://schemas.openxmlformats.org/officeDocument/2006/relationships/slideLayout" Target="/ppt/slideLayouts/slideLayout1.xml" Id="R529dee4390f14c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dee4390f14c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ec16b12b462c" /><Relationship Type="http://schemas.openxmlformats.org/officeDocument/2006/relationships/image" Target="/ppt/media/image.png" Id="R40f5665358da42c3" /><Relationship Type="http://schemas.openxmlformats.org/officeDocument/2006/relationships/notesSlide" Target="/ppt/notesSlides/notesSlide1.xml" Id="R6bd9603735c24e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463eabdff4be3" /><Relationship Type="http://schemas.openxmlformats.org/officeDocument/2006/relationships/image" Target="/ppt/media/image2.png" Id="R37994bbdba30449e" /><Relationship Type="http://schemas.openxmlformats.org/officeDocument/2006/relationships/image" Target="/ppt/media/image3.png" Id="R624f0d2724a84b64" /><Relationship Type="http://schemas.openxmlformats.org/officeDocument/2006/relationships/notesSlide" Target="/ppt/notesSlides/notesSlide2.xml" Id="R03794834edf8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325975aca4b1c" /><Relationship Type="http://schemas.openxmlformats.org/officeDocument/2006/relationships/image" Target="/ppt/media/image4.png" Id="R0a733a81c61744a1" /><Relationship Type="http://schemas.openxmlformats.org/officeDocument/2006/relationships/image" Target="/ppt/media/image5.png" Id="Rb4579f736b5d4ce3" /><Relationship Type="http://schemas.openxmlformats.org/officeDocument/2006/relationships/notesSlide" Target="/ppt/notesSlides/notesSlide3.xml" Id="Rd9fe9cc938ce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d69a6540f4dcc" /><Relationship Type="http://schemas.openxmlformats.org/officeDocument/2006/relationships/image" Target="/ppt/media/image6.png" Id="Rc949d9df9a2b49d2" /><Relationship Type="http://schemas.openxmlformats.org/officeDocument/2006/relationships/image" Target="/ppt/media/image7.png" Id="R132957fb2ddb4068" /><Relationship Type="http://schemas.openxmlformats.org/officeDocument/2006/relationships/image" Target="/ppt/media/image8.png" Id="R07e9f243fe464fbd" /><Relationship Type="http://schemas.openxmlformats.org/officeDocument/2006/relationships/notesSlide" Target="/ppt/notesSlides/notesSlide4.xml" Id="Re13f2c3a430546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e743d0f454dd3" /><Relationship Type="http://schemas.openxmlformats.org/officeDocument/2006/relationships/image" Target="/ppt/media/image9.png" Id="Rab3c60dbb4df4021" /><Relationship Type="http://schemas.openxmlformats.org/officeDocument/2006/relationships/image" Target="/ppt/media/image10.png" Id="R16a8d4e31b3048c5" /><Relationship Type="http://schemas.openxmlformats.org/officeDocument/2006/relationships/notesSlide" Target="/ppt/notesSlides/notesSlide5.xml" Id="R336d80f169b346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7b03ce93341ec" /><Relationship Type="http://schemas.openxmlformats.org/officeDocument/2006/relationships/image" Target="/ppt/media/image11.png" Id="R4de79b1185754c3f" /><Relationship Type="http://schemas.openxmlformats.org/officeDocument/2006/relationships/notesSlide" Target="/ppt/notesSlides/notesSlide6.xml" Id="Rabffa7ead0924b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2ab97d8814b98" /><Relationship Type="http://schemas.openxmlformats.org/officeDocument/2006/relationships/image" Target="/ppt/media/image12.png" Id="Rede1261a1ebd4281" /><Relationship Type="http://schemas.openxmlformats.org/officeDocument/2006/relationships/image" Target="/ppt/media/image13.png" Id="R6976e32ef6c6427c" /><Relationship Type="http://schemas.openxmlformats.org/officeDocument/2006/relationships/notesSlide" Target="/ppt/notesSlides/notesSlide7.xml" Id="Rb96f55d0609c42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D23F6-3554-48D6-8D8C-12C1FD9C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E20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5665358da42c3"/>
          <a:stretch xmlns:a="http://schemas.openxmlformats.org/drawingml/2006/main"/>
        </p:blipFill>
        <p:spPr>
          <a:xfrm xmlns:a="http://schemas.openxmlformats.org/drawingml/2006/main">
            <a:off x="533400" y="532981"/>
            <a:ext cx="4714875" cy="724739"/>
          </a:xfrm>
          <a:prstGeom xmlns:a="http://schemas.openxmlformats.org/drawingml/2006/main" prst="rect">
            <a:avLst/>
          </a:prstGeom>
        </p:spPr>
      </p:pic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4B61FEA-E160-4419-A5C6-ADFB7CF7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905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Система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управления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ремонтами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7514D-2A40-428B-B225-E994681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43475"/>
            <a:ext cx="4743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Единое рабочее место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для планирования, выполнения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контроля ТОиР.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CA090-8325-4CD3-B682-5FBEBC9F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199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ПДМ 10 / 14 / 17 т</a:t>
            </a:r>
          </a:p>
          <a:p xmlns:a="http://schemas.openxmlformats.org/drawingml/2006/main">
            <a:pPr>
              <a:defRPr sz="18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Шахтные самосвалы 30 / 45 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D17DE-22D7-42E7-B9D1-973821F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КОНЦЕПЦИЯ  / 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4B324-08FD-4B71-871A-7A75C72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876300"/>
            <a:ext cx="8096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 карточки техники</a:t>
            </a:r>
          </a:p>
          <a:p xmlns:a="http://schemas.openxmlformats.org/drawingml/2006/main"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до подтвержденного результата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7C7A8-D873-4A83-902D-8BCE6BC5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7170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Регламентное ТО-250, ТО-500 и далее,</a:t>
            </a:r>
          </a:p>
          <a:p xmlns:a="http://schemas.openxmlformats.org/drawingml/2006/main"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плановые и аварийные ремонты.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9F342-8960-4E08-AD40-DCB0A26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BFC0B-C938-4A4B-B82C-D60568AE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575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Оборудование и нормативы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39A61-487B-41AF-BBE2-27EB6ECC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Карточки машин, наработка, регламенты, техкарты.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2329D-832F-445B-B6E3-DFC6DDF2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433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70840-4575-4068-867F-BBB8FBFC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43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Заявка и планирование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D3989-CA00-4412-803B-2625E6B9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Потребность заказчика, сроки и приоритет работ.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6F225-C0DF-42CD-8205-809779C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29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67510-83F1-4EF2-AFE5-9FC23B4D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292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Наряд-заказ и выполнение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2E823-426E-4F76-92A5-1D367F9B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102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Операции, ответственные, бригада и ресурсы.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BE2D6-EC6B-4B2B-8B56-96154CB3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915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83679-5F01-47C7-ADAA-2033C5E3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9150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Подтверждение результата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38BAC-2812-4B3B-8D74-F5871C47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2960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Факт работ, материалы, проверка и история машины.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AD4FD-7535-4779-A9B7-55B9ECA8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800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649A5-547C-4BAC-B460-0517B09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8008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Аналитика · следующий этап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652AA-81FA-4ED0-A84B-891FDF3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1818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Техническое состояние, отказы и простои.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FE39D-0642-4613-8393-7D1B9E3D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9152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Первый этап: веб-система без интеграций, отчетов и мобильного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90863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602F2-54B3-4AC4-BF72-4819619F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РАБОЧИЕ СЦЕНАРИИ  /  02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2043764-891C-4A8B-8793-0509E102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381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Единая база техники и нормативов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94bbdba30449e"/>
          <a:stretch xmlns:a="http://schemas.openxmlformats.org/drawingml/2006/main"/>
        </p:blipFill>
        <p:spPr>
          <a:xfrm xmlns:a="http://schemas.openxmlformats.org/drawingml/2006/main">
            <a:off x="11372850" y="224792"/>
            <a:ext cx="3333750" cy="51244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0F7B2-448E-48A6-888F-DDB54A8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9734550" cy="649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f0d2724a84b64"/>
          <a:stretch xmlns:a="http://schemas.openxmlformats.org/drawingml/2006/main"/>
        </p:blipFill>
        <p:spPr>
          <a:xfrm xmlns:a="http://schemas.openxmlformats.org/drawingml/2006/main">
            <a:off x="533400" y="1476375"/>
            <a:ext cx="9715500" cy="6477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D6B2D-5DD8-43D0-9107-2113FAF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52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F63FD-3932-4A29-848B-DDD569F9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5265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Карточка оборудования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96841-9816-456D-A347-8BCA4E04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Тип машины, серийный номер, заказчик, участок и текущая наработка.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46535-F56B-414E-A7FD-3297840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385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635A1-F4B6-4CCC-BA0A-A0424935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38625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Технологическая карта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1EE1E-ECEE-43C6-B998-E1DA492B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43475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Периодичность ТО, операции, нормы времени и специальности.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1CDB8-2C27-4A84-B042-57FB019B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245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076F5-639F-4143-9D5E-426E8811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Основа планирования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60B3B-9449-4125-BEE3-F307C37E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Техкарта связана с техникой и используется при подготовке наряда.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F9E93-841A-43D4-9F82-6C89AA11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34350"/>
            <a:ext cx="1319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2BDE1-2ECF-41C5-A4A6-3D8D22E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134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124362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3B1E3-D9C5-4AA5-99C1-351BA207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РАБОЧИЕ СЦЕНАРИИ  /  03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EEE7B3A-DD48-4E64-89F1-24E7FA4F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381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 обращения заказчика к заданию бригаде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33a81c61744a1"/>
          <a:stretch xmlns:a="http://schemas.openxmlformats.org/drawingml/2006/main"/>
        </p:blipFill>
        <p:spPr>
          <a:xfrm xmlns:a="http://schemas.openxmlformats.org/drawingml/2006/main">
            <a:off x="11372850" y="224792"/>
            <a:ext cx="3333750" cy="51244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FAAE6-718C-4090-94F6-108A32F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9734550" cy="649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79f736b5d4ce3"/>
          <a:stretch xmlns:a="http://schemas.openxmlformats.org/drawingml/2006/main"/>
        </p:blipFill>
        <p:spPr>
          <a:xfrm xmlns:a="http://schemas.openxmlformats.org/drawingml/2006/main">
            <a:off x="533400" y="1476375"/>
            <a:ext cx="9715500" cy="6477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794A1-2591-475A-BFC6-5C6E361D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52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E9F68-24BE-4C60-ADBE-35CFED0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5265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Входящая заявка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6843D-6289-45FC-A2F2-A8E048F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Сотрудник регистрирует обращение: техника, причина, вид работ и нужная дата.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10D6B-98BC-47ED-929E-25BF55F2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385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95D74-8C2A-455B-BF9C-638DB8A5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38625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Внутренний наряд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5C121-6489-4A25-A103-5FA0A49B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43475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Мастер задает состав работ, назначает бригаду и планирует сроки.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E2B45-5A2D-4599-A9BD-CC5A6A1F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245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2F419-3FBF-4349-8AE3-44203C27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Связь документов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6E86E-B1CF-42C1-A9FA-0E615B2F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Наряд сохраняет основание — заявку. Операции берутся из техкарты.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20939-1290-4F02-A323-3C661FCE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34350"/>
            <a:ext cx="1319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4364-3AE4-4600-96D2-79E6DD0E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134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</p:spTree>
    <p:extLst>
      <p:ext uri="{BB962C8B-B14F-4D97-AF65-F5344CB8AC3E}">
        <p14:creationId xmlns:p14="http://schemas.microsoft.com/office/powerpoint/2010/main" val="289587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EC90C-C34C-4D9A-95BA-429D2D8B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РАБОЧИЕ СЦЕНАРИИ  /  04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58DE99C-9877-46B3-916A-DD207EC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381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Выполненные работы проходят проверку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9d9df9a2b49d2"/>
          <a:stretch xmlns:a="http://schemas.openxmlformats.org/drawingml/2006/main"/>
        </p:blipFill>
        <p:spPr>
          <a:xfrm xmlns:a="http://schemas.openxmlformats.org/drawingml/2006/main">
            <a:off x="11372850" y="224792"/>
            <a:ext cx="3333750" cy="51244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F5706-2E0C-425C-A2F4-0353A547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9734550" cy="649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957fb2ddb4068"/>
          <a:stretch xmlns:a="http://schemas.openxmlformats.org/drawingml/2006/main"/>
        </p:blipFill>
        <p:spPr>
          <a:xfrm xmlns:a="http://schemas.openxmlformats.org/drawingml/2006/main">
            <a:off x="533400" y="1476375"/>
            <a:ext cx="9715500" cy="6477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9f243fe464fbd"/>
          <a:stretch xmlns:a="http://schemas.openxmlformats.org/drawingml/2006/main"/>
        </p:blipFill>
        <p:spPr>
          <a:xfrm xmlns:a="http://schemas.openxmlformats.org/drawingml/2006/main">
            <a:off x="8515796" y="2507382"/>
            <a:ext cx="1296665" cy="129666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6090E-236E-4FFD-B98C-C185DFFA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52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27BD6-0E1E-462F-9E72-D241F52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5265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Время каждого сотрудника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1498-7A06-4F5F-8942-F00AA3EB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Начало и окончание работ, фактические часы каждого члена бригады и общий итог.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54FDF-35B3-4B22-8743-E7B1E50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385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6EBEF-FBFA-4B12-8C0E-18B458D5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38625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QR-код наряда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CC8FF-0047-411B-ADFE-3DC39156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43475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Уникальный идентификатор связывает бумажный бланк и электронный наряд-заказ.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9924D-EC39-4651-80D0-7A5F215A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245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62EF0-36E6-489E-874D-CBDC9CA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Подписанный 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1F33B-9EC5-42AA-937B-A5C28EA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 наряду прикрепляется скан или фото подписанного акта выполненных работ.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A45A4-EF35-440B-9A76-81A3051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34350"/>
            <a:ext cx="1319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237AD-AE7C-4F49-9FF0-47E03657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134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</p:spTree>
    <p:extLst>
      <p:ext uri="{BB962C8B-B14F-4D97-AF65-F5344CB8AC3E}">
        <p14:creationId xmlns:p14="http://schemas.microsoft.com/office/powerpoint/2010/main" val="101917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7B435-B3AF-4501-9C81-6FE03B2C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РАЗВИТИЕ ПОСЛЕ MVP  /  05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C6DE463-FE66-46CF-B561-C2ED5843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381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и надежность парка — на одном экране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c60dbb4df4021"/>
          <a:stretch xmlns:a="http://schemas.openxmlformats.org/drawingml/2006/main"/>
        </p:blipFill>
        <p:spPr>
          <a:xfrm xmlns:a="http://schemas.openxmlformats.org/drawingml/2006/main">
            <a:off x="11372850" y="224792"/>
            <a:ext cx="3333750" cy="51244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EC47-F678-43FC-97AC-F47E1BA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9734550" cy="649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8d4e31b3048c5"/>
          <a:stretch xmlns:a="http://schemas.openxmlformats.org/drawingml/2006/main"/>
        </p:blipFill>
        <p:spPr>
          <a:xfrm xmlns:a="http://schemas.openxmlformats.org/drawingml/2006/main">
            <a:off x="533400" y="1476375"/>
            <a:ext cx="9715500" cy="6477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BE083-E8E2-457C-93A3-4D2BBCB5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52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EF2C6-32B6-48AC-B689-4A227CC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5265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парка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ADA50-48DE-4892-A497-081AC560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Какая техника готова к работе, находится на ТО или в ремонте.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165EB-EFFE-4D25-BBFC-9963E304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385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D95D4-BF48-4210-A584-D736AFA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38625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Показатели надежности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2ABFE-0AE9-44C6-BA75-15258D3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43475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Наработка между отказами, время восстановления и причины простоев.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1CCAB-7EB1-4AC7-8796-B888E6F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245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7A56C-DF37-4F51-A6DA-6C7D2B1E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3667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Данные для решений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6398A-B18F-4860-B4DA-C0379E93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3667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Выявление проблемных машин и узлов, уточнение планов обслуживания.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AAE4E-BFEC-4DA3-82A3-798DBF5C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34350"/>
            <a:ext cx="1319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Следующий этап · демонстрационные показатели · методики расчета подлежат согласованию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90551-491E-42A6-8602-D187D20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134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</p:spTree>
    <p:extLst>
      <p:ext uri="{BB962C8B-B14F-4D97-AF65-F5344CB8AC3E}">
        <p14:creationId xmlns:p14="http://schemas.microsoft.com/office/powerpoint/2010/main" val="823466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1E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D7C3F-032A-4C98-9231-8A02C777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ПРЕИМУЩЕСТВА  /  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79b1185754c3f"/>
          <a:stretch xmlns:a="http://schemas.openxmlformats.org/drawingml/2006/main"/>
        </p:blipFill>
        <p:spPr>
          <a:xfrm xmlns:a="http://schemas.openxmlformats.org/drawingml/2006/main">
            <a:off x="11372850" y="224792"/>
            <a:ext cx="3333750" cy="512442"/>
          </a:xfrm>
          <a:prstGeom xmlns:a="http://schemas.openxmlformats.org/drawingml/2006/main" prst="rect">
            <a:avLst/>
          </a:prstGeom>
        </p:spPr>
      </p:pic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E33C3A1-B5F8-4E8C-8C4B-80192883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"/>
            <a:ext cx="13716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Управляемый процесс ремонта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достоверная история техники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D28ED-20BB-4AB7-83DD-FB7BC340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76575"/>
            <a:ext cx="704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A0CA2-080A-4796-B5EF-43EA259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95625"/>
            <a:ext cx="588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Прозрачное выполнение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AF3AF-DAC8-48AB-9C05-5940423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5225"/>
            <a:ext cx="5857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По каждой заявке видны статус, сроки,</a:t>
            </a:r>
          </a:p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ответственный и результат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62409-7F0F-4D0D-9A6F-D60CB1D6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6575"/>
            <a:ext cx="704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C788C-5114-4F2D-B3BE-B847E7C9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588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Единые нормативы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71D5F-471C-4B55-B0A1-28A58AA4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05225"/>
            <a:ext cx="5857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Техкарты задают состав операций</a:t>
            </a:r>
          </a:p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и основу для сравнения плана с фактом.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005F9-F5E2-4B11-AEF3-940FBC0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704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69535-2282-4952-8EB4-A64AA22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76825"/>
            <a:ext cx="588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История каждой машины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70353-9C7E-4413-974F-56BD3657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86425"/>
            <a:ext cx="5857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Работы, наработка и материалы собраны</a:t>
            </a:r>
          </a:p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в одном месте и доступны специалистам.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CAF17-47DB-4237-BC6D-5BD9B411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57775"/>
            <a:ext cx="704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C2513-0DEA-4D90-A1F3-C37E1E8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76825"/>
            <a:ext cx="588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Развитие под ваши процессы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004C1-83F2-49B6-A5E1-7B136F3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86425"/>
            <a:ext cx="5857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Функционал внедряется шагами:</a:t>
            </a:r>
          </a:p>
          <a:p xmlns:a="http://schemas.openxmlformats.org/drawingml/2006/main"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проверяем на практике и корректируем.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68B50-9197-4D13-AA05-492B94C8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86625"/>
            <a:ext cx="1417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5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98629-F2D1-4095-AE9B-04B53606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Начинаем с базовых процессов. Аналитику развиваем на накопленных данных.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EBA68-EB1E-4D3D-8C1B-A767B5F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34350"/>
            <a:ext cx="1319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Ожидаемые преимущества · количественный эффект оценивается после пилота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BD4D8-7D48-479D-99CD-52F52BD5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134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1448016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CF0DA-7767-4C12-8D98-2FCFF3B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СЛЕДУЮЩИЙ ЭТАП ПОСЛЕ MVP  /  07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EC35D3F-666A-41F9-9627-FFB442A3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381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Развитие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1261a1ebd4281"/>
          <a:stretch xmlns:a="http://schemas.openxmlformats.org/drawingml/2006/main"/>
        </p:blipFill>
        <p:spPr>
          <a:xfrm xmlns:a="http://schemas.openxmlformats.org/drawingml/2006/main">
            <a:off x="11372850" y="224792"/>
            <a:ext cx="3333750" cy="51244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D78B2-22F9-470D-B175-E71C41EE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240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Мобильные бригады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C9F38-A738-4EF6-BA10-7C318E39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8572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Специалист фиксирует выполнение и дефекты</a:t>
            </a:r>
          </a:p>
          <a:p xmlns:a="http://schemas.openxmlformats.org/drawingml/2006/main">
            <a:pPr>
              <a:defRPr sz="21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непосредственно у машины.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B0EF5-55C2-4FDD-A3F2-864C4E3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EE4A2-FB96-48ED-A3E4-A948098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7762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Работа по наряду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F25D1-3473-470C-ADDA-C586AF04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7762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Открытие наряда по QR-коду, отметки в чек-листе ТО</a:t>
            </a:r>
          </a:p>
          <a:p xmlns:a="http://schemas.openxmlformats.org/drawingml/2006/main"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 учет собственного времени.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A79F6-CCD5-4095-86EE-DAC8655A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CA8F6-C7D4-44BA-9BAA-95A5197F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7762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Фото и видео дефектов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35A19-06FB-4342-92C5-8D4FAB71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62575"/>
            <a:ext cx="7762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Снимок или видео с комментарием сохраняются</a:t>
            </a:r>
          </a:p>
          <a:p xmlns:a="http://schemas.openxmlformats.org/drawingml/2006/main"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 истории оборудования и передаются мастеру.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0C24F-6886-4265-B843-BF0483A7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E6F5B-2830-48E4-8696-1C4BFA65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10300"/>
            <a:ext cx="7762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Мобильная веб-версия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FDCA5-984A-48EB-B7AF-1F0F64C1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696075"/>
            <a:ext cx="7762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Интерфейс для телефона с установкой на главный экран.</a:t>
            </a:r>
          </a:p>
          <a:p xmlns:a="http://schemas.openxmlformats.org/drawingml/2006/main"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Общий сервер Django и единая база PostgreSQL.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A9D6F-33EC-4312-A51D-858AD05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543800"/>
            <a:ext cx="814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При отсутствии связи: локальное сохранение и передача</a:t>
            </a:r>
          </a:p>
          <a:p xmlns:a="http://schemas.openxmlformats.org/drawingml/2006/main">
            <a:pPr>
              <a:defRPr sz="165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данных после подключения. Реализуется отдельным этапом.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6e32ef6c6427c"/>
          <a:stretch xmlns:a="http://schemas.openxmlformats.org/drawingml/2006/main"/>
        </p:blipFill>
        <p:spPr>
          <a:xfrm xmlns:a="http://schemas.openxmlformats.org/drawingml/2006/main">
            <a:off x="9923463" y="1371600"/>
            <a:ext cx="4470400" cy="67056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66BF6-8FE0-41A8-8730-21634F0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34350"/>
            <a:ext cx="1319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мобильной версии · демонстрационные данные и изображение дефекта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2D5F6-623C-4583-872F-C97E9578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134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</p:spTree>
    <p:extLst>
      <p:ext uri="{BB962C8B-B14F-4D97-AF65-F5344CB8AC3E}">
        <p14:creationId xmlns:p14="http://schemas.microsoft.com/office/powerpoint/2010/main" val="2099661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2026-09-09T08:34:08.3100000Z</dcterms:created>
  <dcterms:modified xsi:type="dcterms:W3CDTF">2026-09-09T08:34:08.3100000Z</dcterms:modified>
</coreProperties>
</file>